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38" r:id="rId1"/>
  </p:sldMasterIdLst>
  <p:notesMasterIdLst>
    <p:notesMasterId r:id="rId20"/>
  </p:notesMasterIdLst>
  <p:sldIdLst>
    <p:sldId id="272" r:id="rId2"/>
    <p:sldId id="259" r:id="rId3"/>
    <p:sldId id="279" r:id="rId4"/>
    <p:sldId id="268" r:id="rId5"/>
    <p:sldId id="280" r:id="rId6"/>
    <p:sldId id="271" r:id="rId7"/>
    <p:sldId id="277" r:id="rId8"/>
    <p:sldId id="275" r:id="rId9"/>
    <p:sldId id="276" r:id="rId10"/>
    <p:sldId id="262" r:id="rId11"/>
    <p:sldId id="281" r:id="rId12"/>
    <p:sldId id="263" r:id="rId13"/>
    <p:sldId id="278" r:id="rId14"/>
    <p:sldId id="282" r:id="rId15"/>
    <p:sldId id="283" r:id="rId16"/>
    <p:sldId id="284" r:id="rId17"/>
    <p:sldId id="270" r:id="rId18"/>
    <p:sldId id="269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EFE"/>
    <a:srgbClr val="6D7887"/>
    <a:srgbClr val="EB9A41"/>
    <a:srgbClr val="007AB0"/>
    <a:srgbClr val="EEDCEA"/>
    <a:srgbClr val="BBDEFD"/>
    <a:srgbClr val="CB92E2"/>
    <a:srgbClr val="A9F9D9"/>
    <a:srgbClr val="A162D0"/>
    <a:srgbClr val="EDC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26" autoAdjust="0"/>
  </p:normalViewPr>
  <p:slideViewPr>
    <p:cSldViewPr snapToGrid="0">
      <p:cViewPr varScale="1">
        <p:scale>
          <a:sx n="92" d="100"/>
          <a:sy n="92" d="100"/>
        </p:scale>
        <p:origin x="655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4" d="100"/>
          <a:sy n="74" d="100"/>
        </p:scale>
        <p:origin x="338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_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4800306066653716"/>
          <c:y val="3.8214528000426358E-2"/>
          <c:w val="0.72307069739324403"/>
          <c:h val="0.8949096102920776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진척도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현장/장비 특성 분석</c:v>
                </c:pt>
                <c:pt idx="1">
                  <c:v>IoT 통신 I/F 설계/구현</c:v>
                </c:pt>
                <c:pt idx="2">
                  <c:v>PLC 레지스터 맵 구축</c:v>
                </c:pt>
                <c:pt idx="3">
                  <c:v>통합 서버 (Docker) 구축</c:v>
                </c:pt>
                <c:pt idx="4">
                  <c:v>Grafana 대시보드 구현</c:v>
                </c:pt>
                <c:pt idx="5">
                  <c:v>IoT 데이터 수집 안정화</c:v>
                </c:pt>
                <c:pt idx="6">
                  <c:v>정부 과제 신청/선정 대응</c:v>
                </c:pt>
                <c:pt idx="7">
                  <c:v>ERP 연동 인터페이스 설계</c:v>
                </c:pt>
                <c:pt idx="8">
                  <c:v>MES 기초 모듈 구축</c:v>
                </c:pt>
                <c:pt idx="9">
                  <c:v>Vision AI 품질검사 기획</c:v>
                </c:pt>
                <c:pt idx="10">
                  <c:v>QMS/FMS 모듈 설계</c:v>
                </c:pt>
                <c:pt idx="11">
                  <c:v>Robotics 타당성 검토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</c:v>
                </c:pt>
                <c:pt idx="1">
                  <c:v>95</c:v>
                </c:pt>
                <c:pt idx="2">
                  <c:v>50</c:v>
                </c:pt>
                <c:pt idx="3">
                  <c:v>100</c:v>
                </c:pt>
                <c:pt idx="4">
                  <c:v>90</c:v>
                </c:pt>
                <c:pt idx="5">
                  <c:v>85</c:v>
                </c:pt>
                <c:pt idx="6">
                  <c:v>60</c:v>
                </c:pt>
                <c:pt idx="7">
                  <c:v>0</c:v>
                </c:pt>
                <c:pt idx="8">
                  <c:v>0</c:v>
                </c:pt>
                <c:pt idx="9">
                  <c:v>25</c:v>
                </c:pt>
                <c:pt idx="10">
                  <c:v>0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73-408E-B42C-9014C63413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solidFill>
          <a:srgbClr val="DE7E18">
            <a:lumMod val="20000"/>
            <a:lumOff val="8000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E3EACF"/>
    </a:solidFill>
    <a:ln>
      <a:noFill/>
    </a:ln>
    <a:effectLst/>
  </c:spPr>
  <c:txPr>
    <a:bodyPr/>
    <a:lstStyle/>
    <a:p>
      <a:pPr>
        <a:defRPr>
          <a:latin typeface="Noto Sans KR Medium" panose="020B0200000000000000" pitchFamily="50" charset="-127"/>
          <a:ea typeface="Noto Sans KR Medium" panose="020B0200000000000000" pitchFamily="50" charset="-127"/>
        </a:defRPr>
      </a:pPr>
      <a:endParaRPr lang="ko-KR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4E8B0-70D4-4671-AC7C-D0D9D7413F39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20EBC-2A56-43E2-9C3D-DB088E4B60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34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A20EBC-2A56-43E2-9C3D-DB088E4B60D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844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A20EBC-2A56-43E2-9C3D-DB088E4B60D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125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A20EBC-2A56-43E2-9C3D-DB088E4B60D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321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652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412" y="117084"/>
            <a:ext cx="1833786" cy="41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33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65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75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00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11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618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41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80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14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924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572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4304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098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443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99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A9B89-B893-4EAB-B4B7-A6CBBBBD2CBB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F97292E-569B-4B04-A3FE-450050954A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33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9" r:id="rId1"/>
    <p:sldLayoutId id="2147484240" r:id="rId2"/>
    <p:sldLayoutId id="2147484241" r:id="rId3"/>
    <p:sldLayoutId id="2147484242" r:id="rId4"/>
    <p:sldLayoutId id="2147484243" r:id="rId5"/>
    <p:sldLayoutId id="2147484244" r:id="rId6"/>
    <p:sldLayoutId id="2147484245" r:id="rId7"/>
    <p:sldLayoutId id="2147484246" r:id="rId8"/>
    <p:sldLayoutId id="2147484247" r:id="rId9"/>
    <p:sldLayoutId id="2147484248" r:id="rId10"/>
    <p:sldLayoutId id="2147484249" r:id="rId11"/>
    <p:sldLayoutId id="2147484250" r:id="rId12"/>
    <p:sldLayoutId id="2147484251" r:id="rId13"/>
    <p:sldLayoutId id="2147484252" r:id="rId14"/>
    <p:sldLayoutId id="2147484253" r:id="rId15"/>
    <p:sldLayoutId id="2147484254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70611" y="1612670"/>
            <a:ext cx="92309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㈜형경산업 </a:t>
            </a:r>
            <a:r>
              <a:rPr lang="en-US" altLang="ko-KR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Smart Factory </a:t>
            </a:r>
            <a:r>
              <a:rPr lang="ko-KR" altLang="en-US" sz="4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개발 및 구현</a:t>
            </a:r>
            <a:endParaRPr lang="ko-KR" alt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83603" y="6113260"/>
            <a:ext cx="8193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Revision 1.0 |  2026.03.06  | </a:t>
            </a:r>
            <a:r>
              <a:rPr lang="ko-KR" altLang="en-US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㈜형경산업 연구개발전담부서  </a:t>
            </a:r>
            <a:r>
              <a:rPr lang="en-US" altLang="ko-KR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| </a:t>
            </a:r>
            <a:r>
              <a:rPr lang="ko-KR" altLang="en-US" sz="2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이주철 실장</a:t>
            </a:r>
            <a:endParaRPr lang="ko-KR" altLang="en-US" sz="20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904755" y="2448342"/>
            <a:ext cx="4962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AIoT 기반 지능형 제조 플랫폼 구축</a:t>
            </a:r>
            <a:endParaRPr lang="en-US" sz="24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4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07220" y="589546"/>
            <a:ext cx="14029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</a:t>
            </a:r>
            <a:r>
              <a:rPr lang="ko-KR" altLang="en-US" sz="32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목차</a:t>
            </a:r>
            <a:endParaRPr lang="ko-KR" altLang="en-US" sz="32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4" name="Shape 1"/>
          <p:cNvSpPr/>
          <p:nvPr/>
        </p:nvSpPr>
        <p:spPr>
          <a:xfrm flipV="1">
            <a:off x="1320164" y="1391849"/>
            <a:ext cx="10776585" cy="45719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5"/>
          <p:cNvSpPr/>
          <p:nvPr/>
        </p:nvSpPr>
        <p:spPr>
          <a:xfrm>
            <a:off x="1463039" y="1870710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6"/>
          <p:cNvSpPr/>
          <p:nvPr/>
        </p:nvSpPr>
        <p:spPr>
          <a:xfrm>
            <a:off x="1463039" y="1870710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01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Text 7"/>
          <p:cNvSpPr/>
          <p:nvPr/>
        </p:nvSpPr>
        <p:spPr>
          <a:xfrm>
            <a:off x="1947399" y="1898813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회사 개요 및 R&amp;D 역량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" name="Shape 8"/>
          <p:cNvSpPr/>
          <p:nvPr/>
        </p:nvSpPr>
        <p:spPr>
          <a:xfrm>
            <a:off x="1463039" y="2401062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9"/>
          <p:cNvSpPr/>
          <p:nvPr/>
        </p:nvSpPr>
        <p:spPr>
          <a:xfrm>
            <a:off x="1463039" y="2401062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02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1947399" y="24191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업계 동향 및 추진 배경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Shape 11"/>
          <p:cNvSpPr/>
          <p:nvPr/>
        </p:nvSpPr>
        <p:spPr>
          <a:xfrm>
            <a:off x="1463039" y="2931414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2"/>
          <p:cNvSpPr/>
          <p:nvPr/>
        </p:nvSpPr>
        <p:spPr>
          <a:xfrm>
            <a:off x="1463039" y="2931414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03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1947399" y="2959785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스마트 팩토리 비전 및 전략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Shape 14"/>
          <p:cNvSpPr/>
          <p:nvPr/>
        </p:nvSpPr>
        <p:spPr>
          <a:xfrm>
            <a:off x="1463039" y="3461766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5"/>
          <p:cNvSpPr/>
          <p:nvPr/>
        </p:nvSpPr>
        <p:spPr>
          <a:xfrm>
            <a:off x="1463039" y="3461766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04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Text 16"/>
          <p:cNvSpPr/>
          <p:nvPr/>
        </p:nvSpPr>
        <p:spPr>
          <a:xfrm>
            <a:off x="1947399" y="3490137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제조 공정 흐름도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Shape 17"/>
          <p:cNvSpPr/>
          <p:nvPr/>
        </p:nvSpPr>
        <p:spPr>
          <a:xfrm>
            <a:off x="1463039" y="3992118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8"/>
          <p:cNvSpPr/>
          <p:nvPr/>
        </p:nvSpPr>
        <p:spPr>
          <a:xfrm>
            <a:off x="1463039" y="3992118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05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" name="Text 19"/>
          <p:cNvSpPr/>
          <p:nvPr/>
        </p:nvSpPr>
        <p:spPr>
          <a:xfrm>
            <a:off x="1947399" y="40121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공정별 장비 현황 (22대)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Shape 20"/>
          <p:cNvSpPr/>
          <p:nvPr/>
        </p:nvSpPr>
        <p:spPr>
          <a:xfrm>
            <a:off x="1463039" y="4522470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1"/>
          <p:cNvSpPr/>
          <p:nvPr/>
        </p:nvSpPr>
        <p:spPr>
          <a:xfrm>
            <a:off x="1463039" y="4522470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06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1947399" y="4550841"/>
            <a:ext cx="358521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IoT 데이터 수집 시스템 구성도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Shape 23"/>
          <p:cNvSpPr/>
          <p:nvPr/>
        </p:nvSpPr>
        <p:spPr>
          <a:xfrm>
            <a:off x="1463039" y="5052822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4"/>
          <p:cNvSpPr/>
          <p:nvPr/>
        </p:nvSpPr>
        <p:spPr>
          <a:xfrm>
            <a:off x="1463039" y="5052822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07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1947399" y="5079981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구축 현황 및 성과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7" name="Shape 26"/>
          <p:cNvSpPr/>
          <p:nvPr/>
        </p:nvSpPr>
        <p:spPr>
          <a:xfrm>
            <a:off x="5983604" y="1870710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7"/>
          <p:cNvSpPr/>
          <p:nvPr/>
        </p:nvSpPr>
        <p:spPr>
          <a:xfrm>
            <a:off x="5983604" y="1870710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08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Text 28"/>
          <p:cNvSpPr/>
          <p:nvPr/>
        </p:nvSpPr>
        <p:spPr>
          <a:xfrm>
            <a:off x="6477017" y="1898813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MES 시스템 구축 계획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Shape 29"/>
          <p:cNvSpPr/>
          <p:nvPr/>
        </p:nvSpPr>
        <p:spPr>
          <a:xfrm>
            <a:off x="5983604" y="2401062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30"/>
          <p:cNvSpPr/>
          <p:nvPr/>
        </p:nvSpPr>
        <p:spPr>
          <a:xfrm>
            <a:off x="5983604" y="2401062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09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31"/>
          <p:cNvSpPr/>
          <p:nvPr/>
        </p:nvSpPr>
        <p:spPr>
          <a:xfrm>
            <a:off x="6477017" y="2419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품질관리 시스템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Shape 32"/>
          <p:cNvSpPr/>
          <p:nvPr/>
        </p:nvSpPr>
        <p:spPr>
          <a:xfrm>
            <a:off x="5983604" y="2931414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4" name="Text 33"/>
          <p:cNvSpPr/>
          <p:nvPr/>
        </p:nvSpPr>
        <p:spPr>
          <a:xfrm>
            <a:off x="5983604" y="2931414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10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6477017" y="2949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3개년 단계별 로드맵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Shape 35"/>
          <p:cNvSpPr/>
          <p:nvPr/>
        </p:nvSpPr>
        <p:spPr>
          <a:xfrm>
            <a:off x="5983604" y="3461766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7" name="Text 36"/>
          <p:cNvSpPr/>
          <p:nvPr/>
        </p:nvSpPr>
        <p:spPr>
          <a:xfrm>
            <a:off x="5983604" y="3461766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11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37"/>
          <p:cNvSpPr/>
          <p:nvPr/>
        </p:nvSpPr>
        <p:spPr>
          <a:xfrm>
            <a:off x="6477017" y="34803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핵심 성과 목표 (KPI)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Shape 38"/>
          <p:cNvSpPr/>
          <p:nvPr/>
        </p:nvSpPr>
        <p:spPr>
          <a:xfrm>
            <a:off x="5983604" y="3992118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0" name="Text 39"/>
          <p:cNvSpPr/>
          <p:nvPr/>
        </p:nvSpPr>
        <p:spPr>
          <a:xfrm>
            <a:off x="5983604" y="3992118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12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40"/>
          <p:cNvSpPr/>
          <p:nvPr/>
        </p:nvSpPr>
        <p:spPr>
          <a:xfrm>
            <a:off x="6477017" y="401069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정부 지원사업 연계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Shape 41"/>
          <p:cNvSpPr/>
          <p:nvPr/>
        </p:nvSpPr>
        <p:spPr>
          <a:xfrm>
            <a:off x="5983604" y="4522470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3" name="Text 42"/>
          <p:cNvSpPr/>
          <p:nvPr/>
        </p:nvSpPr>
        <p:spPr>
          <a:xfrm>
            <a:off x="5983604" y="4522470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13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43"/>
          <p:cNvSpPr/>
          <p:nvPr/>
        </p:nvSpPr>
        <p:spPr>
          <a:xfrm>
            <a:off x="6477017" y="4541048"/>
            <a:ext cx="408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1차년도 Action Plan &amp; WBS 진척도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Shape 44"/>
          <p:cNvSpPr/>
          <p:nvPr/>
        </p:nvSpPr>
        <p:spPr>
          <a:xfrm>
            <a:off x="5983604" y="5052822"/>
            <a:ext cx="367241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6" name="Text 45"/>
          <p:cNvSpPr/>
          <p:nvPr/>
        </p:nvSpPr>
        <p:spPr>
          <a:xfrm>
            <a:off x="5983604" y="5052822"/>
            <a:ext cx="367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14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46"/>
          <p:cNvSpPr/>
          <p:nvPr/>
        </p:nvSpPr>
        <p:spPr>
          <a:xfrm>
            <a:off x="6477017" y="50701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기대효과</a:t>
            </a:r>
            <a:endParaRPr lang="en-US" sz="2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9202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1540" y="748041"/>
            <a:ext cx="4973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      1.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회사 개요 및 </a:t>
            </a:r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R&amp;D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역량</a:t>
            </a:r>
            <a:endParaRPr lang="en-US" altLang="ko-KR" sz="2800" b="1" dirty="0" smtClean="0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5" name="Shape 5"/>
          <p:cNvSpPr/>
          <p:nvPr/>
        </p:nvSpPr>
        <p:spPr>
          <a:xfrm>
            <a:off x="1516454" y="1741942"/>
            <a:ext cx="4316690" cy="376108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1516453" y="1748224"/>
            <a:ext cx="4320000" cy="46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7" name="Text 7"/>
          <p:cNvSpPr/>
          <p:nvPr/>
        </p:nvSpPr>
        <p:spPr>
          <a:xfrm>
            <a:off x="1699335" y="1748224"/>
            <a:ext cx="1426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20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회사 개요</a:t>
            </a:r>
            <a:endParaRPr lang="en-US" sz="2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Text 8"/>
          <p:cNvSpPr/>
          <p:nvPr/>
        </p:nvSpPr>
        <p:spPr>
          <a:xfrm>
            <a:off x="1699335" y="23520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기 업 명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" name="Text 9"/>
          <p:cNvSpPr/>
          <p:nvPr/>
        </p:nvSpPr>
        <p:spPr>
          <a:xfrm>
            <a:off x="2605424" y="23520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㈜형경산업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1516452" y="2699564"/>
            <a:ext cx="4316400" cy="0"/>
          </a:xfrm>
          <a:prstGeom prst="line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1699335" y="2826013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대 표 자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Text 12"/>
          <p:cNvSpPr/>
          <p:nvPr/>
        </p:nvSpPr>
        <p:spPr>
          <a:xfrm>
            <a:off x="2605424" y="2826013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박형순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1505183" y="3165726"/>
            <a:ext cx="4327961" cy="0"/>
          </a:xfrm>
          <a:prstGeom prst="line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</p:sp>
      <p:sp>
        <p:nvSpPr>
          <p:cNvPr id="14" name="Text 14"/>
          <p:cNvSpPr/>
          <p:nvPr/>
        </p:nvSpPr>
        <p:spPr>
          <a:xfrm>
            <a:off x="1690282" y="3290881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소 재 지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Text 15"/>
          <p:cNvSpPr/>
          <p:nvPr/>
        </p:nvSpPr>
        <p:spPr>
          <a:xfrm>
            <a:off x="2605424" y="3290881"/>
            <a:ext cx="331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경기도 김포시 대곶면 율생중앙로 118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1505183" y="3631888"/>
            <a:ext cx="4327674" cy="0"/>
          </a:xfrm>
          <a:prstGeom prst="line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1671704" y="3737643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주요 제품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Text 18"/>
          <p:cNvSpPr/>
          <p:nvPr/>
        </p:nvSpPr>
        <p:spPr>
          <a:xfrm>
            <a:off x="2605424" y="3737643"/>
            <a:ext cx="331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싱크대, 반침장, 현관장 (공동주택용)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1516457" y="4079944"/>
            <a:ext cx="4316400" cy="0"/>
          </a:xfrm>
          <a:prstGeom prst="line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</p:sp>
      <p:sp>
        <p:nvSpPr>
          <p:cNvPr id="20" name="Text 20"/>
          <p:cNvSpPr/>
          <p:nvPr/>
        </p:nvSpPr>
        <p:spPr>
          <a:xfrm>
            <a:off x="1670760" y="419345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제조 설비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Text 21"/>
          <p:cNvSpPr/>
          <p:nvPr/>
        </p:nvSpPr>
        <p:spPr>
          <a:xfrm>
            <a:off x="2622047" y="4193458"/>
            <a:ext cx="31551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30여종, 22대 이상 (SCM, BIESSE, APEX)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1516457" y="4528000"/>
            <a:ext cx="4316400" cy="0"/>
          </a:xfrm>
          <a:prstGeom prst="line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1680285" y="46402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연구부서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Text 24"/>
          <p:cNvSpPr/>
          <p:nvPr/>
        </p:nvSpPr>
        <p:spPr>
          <a:xfrm>
            <a:off x="2605424" y="4640220"/>
            <a:ext cx="321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연구개발전담부서 (인정일: 2025.04.15)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1516451" y="4976056"/>
            <a:ext cx="4305131" cy="0"/>
          </a:xfrm>
          <a:prstGeom prst="line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</p:sp>
      <p:sp>
        <p:nvSpPr>
          <p:cNvPr id="26" name="Text 26"/>
          <p:cNvSpPr/>
          <p:nvPr/>
        </p:nvSpPr>
        <p:spPr>
          <a:xfrm>
            <a:off x="1680285" y="50960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인정번호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7" name="Text 27"/>
          <p:cNvSpPr/>
          <p:nvPr/>
        </p:nvSpPr>
        <p:spPr>
          <a:xfrm>
            <a:off x="2605424" y="5096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제 2025152064호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6323594" y="1748224"/>
            <a:ext cx="4266821" cy="3754801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9"/>
          <p:cNvSpPr/>
          <p:nvPr/>
        </p:nvSpPr>
        <p:spPr>
          <a:xfrm>
            <a:off x="6323595" y="1748224"/>
            <a:ext cx="42668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30"/>
          <p:cNvSpPr/>
          <p:nvPr/>
        </p:nvSpPr>
        <p:spPr>
          <a:xfrm>
            <a:off x="6506475" y="17482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20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핵심 R&amp;D 역량</a:t>
            </a:r>
            <a:endParaRPr lang="en-US" sz="2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475" y="2434024"/>
            <a:ext cx="292608" cy="292608"/>
          </a:xfrm>
          <a:prstGeom prst="rect">
            <a:avLst/>
          </a:prstGeom>
        </p:spPr>
      </p:pic>
      <p:sp>
        <p:nvSpPr>
          <p:cNvPr id="32" name="Text 31"/>
          <p:cNvSpPr/>
          <p:nvPr/>
        </p:nvSpPr>
        <p:spPr>
          <a:xfrm>
            <a:off x="7009395" y="2388304"/>
            <a:ext cx="1752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6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임베디드 시스템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32"/>
          <p:cNvSpPr/>
          <p:nvPr/>
        </p:nvSpPr>
        <p:spPr>
          <a:xfrm>
            <a:off x="7192276" y="2680912"/>
            <a:ext cx="277645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ESP32/STM32 펌웨어, </a:t>
            </a:r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FreeRTOS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바이너리</a:t>
            </a:r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통신 프로토콜 (STX/ETX/XOR)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475" y="3183832"/>
            <a:ext cx="292608" cy="292608"/>
          </a:xfrm>
          <a:prstGeom prst="rect">
            <a:avLst/>
          </a:prstGeom>
        </p:spPr>
      </p:pic>
      <p:sp>
        <p:nvSpPr>
          <p:cNvPr id="35" name="Text 33"/>
          <p:cNvSpPr/>
          <p:nvPr/>
        </p:nvSpPr>
        <p:spPr>
          <a:xfrm>
            <a:off x="7009395" y="3138112"/>
            <a:ext cx="11703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6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산업용 통신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192276" y="3430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OPC DA/UA, Modbus RS485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MQTT, PLC 인터페이스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475" y="3933640"/>
            <a:ext cx="292608" cy="292608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009395" y="3887920"/>
            <a:ext cx="15360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6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IoT 서버 인프라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192276" y="41805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Docker 기반 TimescaleDB, Node-RED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Grafana 실시간 대시보드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6475" y="4683448"/>
            <a:ext cx="292608" cy="29260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009395" y="4637728"/>
            <a:ext cx="14280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6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AI/비전 시스템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7192276" y="49303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Edge AI (Jetson Orin NX)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품질검사 계획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425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01539" y="748041"/>
            <a:ext cx="5236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      2.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업계 동향 </a:t>
            </a:r>
            <a:r>
              <a:rPr lang="ko-KR" altLang="en-US" sz="2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및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추진 배경</a:t>
            </a:r>
            <a:endParaRPr lang="en-US" altLang="ko-KR" sz="2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6" name="Shape 5"/>
          <p:cNvSpPr/>
          <p:nvPr/>
        </p:nvSpPr>
        <p:spPr>
          <a:xfrm>
            <a:off x="1471188" y="1847813"/>
            <a:ext cx="4320000" cy="4320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6"/>
          <p:cNvSpPr/>
          <p:nvPr/>
        </p:nvSpPr>
        <p:spPr>
          <a:xfrm>
            <a:off x="1471188" y="1847813"/>
            <a:ext cx="82286" cy="4320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7"/>
          <p:cNvSpPr/>
          <p:nvPr/>
        </p:nvSpPr>
        <p:spPr>
          <a:xfrm>
            <a:off x="2145558" y="1925881"/>
            <a:ext cx="19216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24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업계 당면 과제</a:t>
            </a:r>
            <a:endParaRPr lang="en-US" sz="2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" name="Text 8"/>
          <p:cNvSpPr/>
          <p:nvPr/>
        </p:nvSpPr>
        <p:spPr>
          <a:xfrm>
            <a:off x="1850283" y="2460338"/>
            <a:ext cx="1883517" cy="28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latinLnBrk="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EF444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인력 부족 심화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" name="Text 9"/>
          <p:cNvSpPr/>
          <p:nvPr/>
        </p:nvSpPr>
        <p:spPr>
          <a:xfrm>
            <a:off x="2002682" y="2762213"/>
            <a:ext cx="321754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제조업 기피 현상, 숙련 인력 고령화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신규 취업자의 공장 근무 기피 추세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1850283" y="3371850"/>
            <a:ext cx="1883517" cy="28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latinLnBrk="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EF444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품질 관리 한계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Text 11"/>
          <p:cNvSpPr/>
          <p:nvPr/>
        </p:nvSpPr>
        <p:spPr>
          <a:xfrm>
            <a:off x="2002682" y="3673725"/>
            <a:ext cx="321754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작업자 주관에 의존하는 육안검사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공동주택 하자 순위 1위 = 가구류 (19.22%)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1850283" y="4283362"/>
            <a:ext cx="1883517" cy="28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latinLnBrk="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EF444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수익성 악화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Text 13"/>
          <p:cNvSpPr/>
          <p:nvPr/>
        </p:nvSpPr>
        <p:spPr>
          <a:xfrm>
            <a:off x="2002682" y="4585237"/>
            <a:ext cx="321754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경기 침체, 인건비 상승, 경쟁 심화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재작업/폐기 비용 증가로 경영 부담 가중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Text 14"/>
          <p:cNvSpPr/>
          <p:nvPr/>
        </p:nvSpPr>
        <p:spPr>
          <a:xfrm>
            <a:off x="1850283" y="5194874"/>
            <a:ext cx="1883517" cy="28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latinLnBrk="0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EF444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데이터 부재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Text 15"/>
          <p:cNvSpPr/>
          <p:nvPr/>
        </p:nvSpPr>
        <p:spPr>
          <a:xfrm>
            <a:off x="2002682" y="5496749"/>
            <a:ext cx="321754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수기 관리 방식으로 인한 공정 불투명성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예지 보전 및 품질 예측이 불가능한 구조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Shape 16"/>
          <p:cNvSpPr/>
          <p:nvPr/>
        </p:nvSpPr>
        <p:spPr>
          <a:xfrm>
            <a:off x="6159393" y="1847813"/>
            <a:ext cx="4320000" cy="43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7"/>
          <p:cNvSpPr/>
          <p:nvPr/>
        </p:nvSpPr>
        <p:spPr>
          <a:xfrm>
            <a:off x="6159393" y="1847813"/>
            <a:ext cx="82286" cy="4320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8"/>
          <p:cNvSpPr/>
          <p:nvPr/>
        </p:nvSpPr>
        <p:spPr>
          <a:xfrm>
            <a:off x="6748038" y="1925881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24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스마트 팩토리로 해결</a:t>
            </a:r>
            <a:endParaRPr lang="en-US" sz="2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" name="Text 19"/>
          <p:cNvSpPr/>
          <p:nvPr/>
        </p:nvSpPr>
        <p:spPr>
          <a:xfrm>
            <a:off x="6624213" y="2516627"/>
            <a:ext cx="2786487" cy="227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latinLnBrk="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IoT 기반 실시간 모니터링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Text 20"/>
          <p:cNvSpPr/>
          <p:nvPr/>
        </p:nvSpPr>
        <p:spPr>
          <a:xfrm>
            <a:off x="6748037" y="2762213"/>
            <a:ext cx="337703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ko-KR" altLang="en-US" sz="14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장비</a:t>
            </a:r>
            <a:r>
              <a:rPr lang="en-US" sz="14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별 </a:t>
            </a:r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OPC DA/UA + MCU 게이트웨이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→ MQTT → </a:t>
            </a:r>
            <a:r>
              <a:rPr lang="en-US" sz="14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Node-RED </a:t>
            </a:r>
            <a:r>
              <a:rPr lang="en-US" altLang="ko-KR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→</a:t>
            </a:r>
            <a:r>
              <a:rPr lang="en-US" sz="14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DB </a:t>
            </a:r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→ Grafana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2" name="Text 21"/>
          <p:cNvSpPr/>
          <p:nvPr/>
        </p:nvSpPr>
        <p:spPr>
          <a:xfrm>
            <a:off x="6624213" y="3423661"/>
            <a:ext cx="2786487" cy="227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latinLnBrk="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MES 기반 생산관리 디지털화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6748037" y="3669247"/>
            <a:ext cx="337703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수기 관리 → 데이터 중심 관리 체계 전환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ERP 연동 및 공정 가시성 확보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Text 23"/>
          <p:cNvSpPr/>
          <p:nvPr/>
        </p:nvSpPr>
        <p:spPr>
          <a:xfrm>
            <a:off x="6624213" y="4330695"/>
            <a:ext cx="2786487" cy="227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latinLnBrk="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품질 자동 판정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Text 24"/>
          <p:cNvSpPr/>
          <p:nvPr/>
        </p:nvSpPr>
        <p:spPr>
          <a:xfrm>
            <a:off x="6748037" y="4576281"/>
            <a:ext cx="337703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Edge AI 기반 0.5초 이내 실시간 판정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95% 이상 결함 탐지 정확도 목표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Text 25"/>
          <p:cNvSpPr/>
          <p:nvPr/>
        </p:nvSpPr>
        <p:spPr>
          <a:xfrm>
            <a:off x="6624213" y="5237729"/>
            <a:ext cx="2786487" cy="227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latinLnBrk="0"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예지 보전 체계 구축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7" name="Text 26"/>
          <p:cNvSpPr/>
          <p:nvPr/>
        </p:nvSpPr>
        <p:spPr>
          <a:xfrm>
            <a:off x="6748037" y="5483315"/>
            <a:ext cx="337703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빅데이터 축적 → 설비 이상 사전 감지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ko-KR" altLang="en-US" sz="14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고경력자</a:t>
            </a:r>
            <a:r>
              <a:rPr lang="en-US" sz="14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노하우의 디지털 자산화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963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01539" y="748041"/>
            <a:ext cx="5779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      </a:t>
            </a:r>
            <a:r>
              <a:rPr lang="en-US" altLang="ko-KR" sz="2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3</a:t>
            </a:r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스마트 팩토리 비전 및 전략</a:t>
            </a:r>
            <a:endParaRPr lang="en-US" altLang="ko-KR" sz="2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1317279" y="1612422"/>
            <a:ext cx="9564986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2" name="Text 6"/>
          <p:cNvSpPr/>
          <p:nvPr/>
        </p:nvSpPr>
        <p:spPr>
          <a:xfrm>
            <a:off x="1500159" y="1612422"/>
            <a:ext cx="9555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 Black" pitchFamily="34" charset="-120"/>
              </a:rPr>
              <a:t>VISION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3" name="Text 7"/>
          <p:cNvSpPr/>
          <p:nvPr/>
        </p:nvSpPr>
        <p:spPr>
          <a:xfrm>
            <a:off x="2688879" y="1612422"/>
            <a:ext cx="817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현장에 맞는, 작업자가 쉽게 사용할 수 있는, 자립형 지능 제조 플랫폼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4" name="Shape 8"/>
          <p:cNvSpPr/>
          <p:nvPr/>
        </p:nvSpPr>
        <p:spPr>
          <a:xfrm>
            <a:off x="1317279" y="2294066"/>
            <a:ext cx="3154680" cy="72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5" name="Shape 9"/>
          <p:cNvSpPr/>
          <p:nvPr/>
        </p:nvSpPr>
        <p:spPr>
          <a:xfrm>
            <a:off x="1317277" y="2264968"/>
            <a:ext cx="54000" cy="144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7" name="Text 11"/>
          <p:cNvSpPr/>
          <p:nvPr/>
        </p:nvSpPr>
        <p:spPr>
          <a:xfrm>
            <a:off x="1374429" y="2422636"/>
            <a:ext cx="2880648" cy="19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1차년도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1386207" y="2689612"/>
            <a:ext cx="2739332" cy="164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200" dirty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2026.06~2027.05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2" name="Text 16"/>
          <p:cNvSpPr/>
          <p:nvPr/>
        </p:nvSpPr>
        <p:spPr>
          <a:xfrm>
            <a:off x="3969801" y="241210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b="1" dirty="0">
                <a:solidFill>
                  <a:srgbClr val="F59E0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2차년도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3969801" y="2680088"/>
            <a:ext cx="2825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200" dirty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2027.06~2028.05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4" name="Shape 18"/>
          <p:cNvSpPr/>
          <p:nvPr/>
        </p:nvSpPr>
        <p:spPr>
          <a:xfrm>
            <a:off x="6776247" y="2295121"/>
            <a:ext cx="4106284" cy="72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7" name="Text 21"/>
          <p:cNvSpPr/>
          <p:nvPr/>
        </p:nvSpPr>
        <p:spPr>
          <a:xfrm>
            <a:off x="7046204" y="2412108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3차년도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8" name="Text 22"/>
          <p:cNvSpPr/>
          <p:nvPr/>
        </p:nvSpPr>
        <p:spPr>
          <a:xfrm>
            <a:off x="7008104" y="2670563"/>
            <a:ext cx="3447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200" dirty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2028.06~2029.05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9" name="Shape 23"/>
          <p:cNvSpPr/>
          <p:nvPr/>
        </p:nvSpPr>
        <p:spPr>
          <a:xfrm>
            <a:off x="1317279" y="2929990"/>
            <a:ext cx="2115589" cy="3080113"/>
          </a:xfrm>
          <a:prstGeom prst="rect">
            <a:avLst/>
          </a:prstGeom>
          <a:solidFill>
            <a:schemeClr val="bg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0" name="Shape 24"/>
          <p:cNvSpPr/>
          <p:nvPr/>
        </p:nvSpPr>
        <p:spPr>
          <a:xfrm>
            <a:off x="2044227" y="3239226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0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11" y="3339810"/>
            <a:ext cx="310896" cy="310896"/>
          </a:xfrm>
          <a:prstGeom prst="rect">
            <a:avLst/>
          </a:prstGeom>
        </p:spPr>
      </p:pic>
      <p:sp>
        <p:nvSpPr>
          <p:cNvPr id="102" name="Text 25"/>
          <p:cNvSpPr/>
          <p:nvPr/>
        </p:nvSpPr>
        <p:spPr>
          <a:xfrm>
            <a:off x="1317279" y="400898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1단계: 연결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3" name="Text 26"/>
          <p:cNvSpPr/>
          <p:nvPr/>
        </p:nvSpPr>
        <p:spPr>
          <a:xfrm>
            <a:off x="1317279" y="432064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실시간 데이터 확보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4" name="Text 27"/>
          <p:cNvSpPr/>
          <p:nvPr/>
        </p:nvSpPr>
        <p:spPr>
          <a:xfrm>
            <a:off x="1421539" y="4923105"/>
            <a:ext cx="1961456" cy="93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설비+ICT 융합 인터페이스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모든 장비 데이터를 실시간 수집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OPC DA/UA + MQTT + MCU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05" name="Image 1" descr="preencoded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460577" y="4197019"/>
            <a:ext cx="292571" cy="292571"/>
          </a:xfrm>
          <a:prstGeom prst="rect">
            <a:avLst/>
          </a:prstGeom>
        </p:spPr>
      </p:pic>
      <p:sp>
        <p:nvSpPr>
          <p:cNvPr id="106" name="Shape 28"/>
          <p:cNvSpPr/>
          <p:nvPr/>
        </p:nvSpPr>
        <p:spPr>
          <a:xfrm>
            <a:off x="3764531" y="2929991"/>
            <a:ext cx="2078601" cy="30801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7" name="Shape 29"/>
          <p:cNvSpPr/>
          <p:nvPr/>
        </p:nvSpPr>
        <p:spPr>
          <a:xfrm>
            <a:off x="4524732" y="3239226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0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316" y="3339810"/>
            <a:ext cx="310896" cy="310896"/>
          </a:xfrm>
          <a:prstGeom prst="rect">
            <a:avLst/>
          </a:prstGeom>
        </p:spPr>
      </p:pic>
      <p:sp>
        <p:nvSpPr>
          <p:cNvPr id="109" name="Text 30"/>
          <p:cNvSpPr/>
          <p:nvPr/>
        </p:nvSpPr>
        <p:spPr>
          <a:xfrm>
            <a:off x="3797784" y="400898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2단계: 활용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0" name="Text 31"/>
          <p:cNvSpPr/>
          <p:nvPr/>
        </p:nvSpPr>
        <p:spPr>
          <a:xfrm>
            <a:off x="3797784" y="432064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맞춤형 운영 시스템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1" name="Text 32"/>
          <p:cNvSpPr/>
          <p:nvPr/>
        </p:nvSpPr>
        <p:spPr>
          <a:xfrm>
            <a:off x="3902044" y="4923105"/>
            <a:ext cx="1961456" cy="93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MES/QMS/FMS 우선 도입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디지털 전환 가속화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ERP 연동 데이터 일원화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12" name="Image 3" descr="preencoded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877212" y="4213397"/>
            <a:ext cx="292571" cy="292571"/>
          </a:xfrm>
          <a:prstGeom prst="rect">
            <a:avLst/>
          </a:prstGeom>
        </p:spPr>
      </p:pic>
      <p:sp>
        <p:nvSpPr>
          <p:cNvPr id="113" name="Shape 33"/>
          <p:cNvSpPr/>
          <p:nvPr/>
        </p:nvSpPr>
        <p:spPr>
          <a:xfrm>
            <a:off x="6191768" y="2929991"/>
            <a:ext cx="2169111" cy="30801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4" name="Shape 34"/>
          <p:cNvSpPr/>
          <p:nvPr/>
        </p:nvSpPr>
        <p:spPr>
          <a:xfrm>
            <a:off x="7003577" y="3264165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161" y="3364749"/>
            <a:ext cx="310896" cy="310896"/>
          </a:xfrm>
          <a:prstGeom prst="rect">
            <a:avLst/>
          </a:prstGeom>
        </p:spPr>
      </p:pic>
      <p:sp>
        <p:nvSpPr>
          <p:cNvPr id="116" name="Text 35"/>
          <p:cNvSpPr/>
          <p:nvPr/>
        </p:nvSpPr>
        <p:spPr>
          <a:xfrm>
            <a:off x="6251688" y="400898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3단계: 개선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7" name="Text 36"/>
          <p:cNvSpPr/>
          <p:nvPr/>
        </p:nvSpPr>
        <p:spPr>
          <a:xfrm>
            <a:off x="6251688" y="4322495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비효율 공정 자동화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8" name="Text 37"/>
          <p:cNvSpPr/>
          <p:nvPr/>
        </p:nvSpPr>
        <p:spPr>
          <a:xfrm>
            <a:off x="6355948" y="4923105"/>
            <a:ext cx="1961456" cy="93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수작업/저효율 공정 식별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자동화 설비 및 프로세스 개선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품질검사 도입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19" name="Image 5" descr="preencoded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396370" y="4213397"/>
            <a:ext cx="292571" cy="292571"/>
          </a:xfrm>
          <a:prstGeom prst="rect">
            <a:avLst/>
          </a:prstGeom>
        </p:spPr>
      </p:pic>
      <p:sp>
        <p:nvSpPr>
          <p:cNvPr id="120" name="Shape 38"/>
          <p:cNvSpPr/>
          <p:nvPr/>
        </p:nvSpPr>
        <p:spPr>
          <a:xfrm>
            <a:off x="8719788" y="2929991"/>
            <a:ext cx="2154164" cy="3080112"/>
          </a:xfrm>
          <a:prstGeom prst="rect">
            <a:avLst/>
          </a:prstGeom>
          <a:solidFill>
            <a:srgbClr val="E6FEFE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1" name="Shape 39"/>
          <p:cNvSpPr/>
          <p:nvPr/>
        </p:nvSpPr>
        <p:spPr>
          <a:xfrm>
            <a:off x="9533956" y="3264165"/>
            <a:ext cx="512064" cy="512064"/>
          </a:xfrm>
          <a:prstGeom prst="ellipse">
            <a:avLst/>
          </a:prstGeom>
          <a:solidFill>
            <a:srgbClr val="007AB0"/>
          </a:solidFill>
          <a:ln/>
        </p:spPr>
      </p:sp>
      <p:pic>
        <p:nvPicPr>
          <p:cNvPr id="1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4540" y="3364749"/>
            <a:ext cx="310896" cy="310896"/>
          </a:xfrm>
          <a:prstGeom prst="rect">
            <a:avLst/>
          </a:prstGeom>
        </p:spPr>
      </p:pic>
      <p:sp>
        <p:nvSpPr>
          <p:cNvPr id="123" name="Text 40"/>
          <p:cNvSpPr/>
          <p:nvPr/>
        </p:nvSpPr>
        <p:spPr>
          <a:xfrm>
            <a:off x="8782070" y="400898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4단계: 지능화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4" name="Text 41"/>
          <p:cNvSpPr/>
          <p:nvPr/>
        </p:nvSpPr>
        <p:spPr>
          <a:xfrm>
            <a:off x="8782070" y="432184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AI 예지 보전 및 분석</a:t>
            </a:r>
            <a:endParaRPr lang="en-US" sz="1400" dirty="0">
              <a:solidFill>
                <a:schemeClr val="accent1">
                  <a:lumMod val="75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5" name="Text 42"/>
          <p:cNvSpPr/>
          <p:nvPr/>
        </p:nvSpPr>
        <p:spPr>
          <a:xfrm>
            <a:off x="8936203" y="4923105"/>
            <a:ext cx="1961456" cy="93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빅데이터 + AI 기술 결합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불량 예측/사전 설비 대응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AX(AI 전환) 완성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Shape 13"/>
          <p:cNvSpPr/>
          <p:nvPr/>
        </p:nvSpPr>
        <p:spPr>
          <a:xfrm>
            <a:off x="4390544" y="2298924"/>
            <a:ext cx="3285076" cy="6968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Shape 9"/>
          <p:cNvSpPr/>
          <p:nvPr/>
        </p:nvSpPr>
        <p:spPr>
          <a:xfrm>
            <a:off x="4336544" y="2254807"/>
            <a:ext cx="54000" cy="144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0" name="Shape 9"/>
          <p:cNvSpPr/>
          <p:nvPr/>
        </p:nvSpPr>
        <p:spPr>
          <a:xfrm>
            <a:off x="4390882" y="2255037"/>
            <a:ext cx="54000" cy="144000"/>
          </a:xfrm>
          <a:prstGeom prst="rect">
            <a:avLst/>
          </a:prstGeom>
          <a:solidFill>
            <a:srgbClr val="EB9A41"/>
          </a:solidFill>
          <a:ln/>
        </p:spPr>
      </p:sp>
      <p:sp>
        <p:nvSpPr>
          <p:cNvPr id="51" name="Shape 9"/>
          <p:cNvSpPr/>
          <p:nvPr/>
        </p:nvSpPr>
        <p:spPr>
          <a:xfrm>
            <a:off x="7615538" y="2265315"/>
            <a:ext cx="54000" cy="144000"/>
          </a:xfrm>
          <a:prstGeom prst="rect">
            <a:avLst/>
          </a:prstGeom>
          <a:solidFill>
            <a:srgbClr val="EB9A41"/>
          </a:solidFill>
          <a:ln/>
        </p:spPr>
      </p:sp>
      <p:sp>
        <p:nvSpPr>
          <p:cNvPr id="52" name="Shape 9"/>
          <p:cNvSpPr/>
          <p:nvPr/>
        </p:nvSpPr>
        <p:spPr>
          <a:xfrm>
            <a:off x="7668946" y="2264968"/>
            <a:ext cx="54000" cy="144000"/>
          </a:xfrm>
          <a:prstGeom prst="rect">
            <a:avLst/>
          </a:prstGeom>
          <a:solidFill>
            <a:srgbClr val="00B050"/>
          </a:solidFill>
          <a:ln/>
        </p:spPr>
      </p:sp>
      <p:sp>
        <p:nvSpPr>
          <p:cNvPr id="53" name="Shape 9"/>
          <p:cNvSpPr/>
          <p:nvPr/>
        </p:nvSpPr>
        <p:spPr>
          <a:xfrm>
            <a:off x="10834162" y="2261481"/>
            <a:ext cx="54000" cy="144000"/>
          </a:xfrm>
          <a:prstGeom prst="rect">
            <a:avLst/>
          </a:prstGeom>
          <a:solidFill>
            <a:srgbClr val="00B050"/>
          </a:solidFill>
          <a:ln/>
        </p:spPr>
      </p:sp>
    </p:spTree>
    <p:extLst>
      <p:ext uri="{BB962C8B-B14F-4D97-AF65-F5344CB8AC3E}">
        <p14:creationId xmlns:p14="http://schemas.microsoft.com/office/powerpoint/2010/main" val="321054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03902" y="692207"/>
            <a:ext cx="5810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4.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제조 공정 </a:t>
            </a:r>
            <a:r>
              <a:rPr lang="ko-KR" altLang="en-US" sz="2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흐름도</a:t>
            </a:r>
            <a:endParaRPr lang="en-US" altLang="ko-KR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1596044" y="1803857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6"/>
          <p:cNvSpPr/>
          <p:nvPr/>
        </p:nvSpPr>
        <p:spPr>
          <a:xfrm>
            <a:off x="1596044" y="1803857"/>
            <a:ext cx="187452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7"/>
          <p:cNvSpPr/>
          <p:nvPr/>
        </p:nvSpPr>
        <p:spPr>
          <a:xfrm>
            <a:off x="1596044" y="1803857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수주/계약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687484" y="2306777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견적서 입찰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수주/계약 처리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3744884" y="1803857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1"/>
          <p:cNvSpPr/>
          <p:nvPr/>
        </p:nvSpPr>
        <p:spPr>
          <a:xfrm>
            <a:off x="3744884" y="1803857"/>
            <a:ext cx="18745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12"/>
          <p:cNvSpPr/>
          <p:nvPr/>
        </p:nvSpPr>
        <p:spPr>
          <a:xfrm>
            <a:off x="3744884" y="1803857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자재 입고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3836324" y="2306777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발주에 의한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입고 자재 검사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Text 14"/>
          <p:cNvSpPr/>
          <p:nvPr/>
        </p:nvSpPr>
        <p:spPr>
          <a:xfrm>
            <a:off x="5619404" y="2078177"/>
            <a:ext cx="252000" cy="5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2000" b="1" dirty="0">
                <a:solidFill>
                  <a:srgbClr val="0891B2"/>
                </a:solidFill>
                <a:latin typeface="Calibri" panose="020F0502020204030204"/>
              </a:rPr>
              <a:t>→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5893724" y="1803857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16"/>
          <p:cNvSpPr/>
          <p:nvPr/>
        </p:nvSpPr>
        <p:spPr>
          <a:xfrm>
            <a:off x="5893724" y="1803857"/>
            <a:ext cx="18745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17"/>
          <p:cNvSpPr/>
          <p:nvPr/>
        </p:nvSpPr>
        <p:spPr>
          <a:xfrm>
            <a:off x="5893724" y="1803857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1. 절단 (재단)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5985164" y="2306777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CNC 재단기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(Gabbiani A3 외)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19"/>
          <p:cNvSpPr/>
          <p:nvPr/>
        </p:nvSpPr>
        <p:spPr>
          <a:xfrm>
            <a:off x="7768244" y="2078177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2000" b="1" dirty="0">
                <a:solidFill>
                  <a:srgbClr val="0891B2"/>
                </a:solidFill>
                <a:latin typeface="Calibri" panose="020F0502020204030204"/>
              </a:rPr>
              <a:t>→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20"/>
          <p:cNvSpPr/>
          <p:nvPr/>
        </p:nvSpPr>
        <p:spPr>
          <a:xfrm>
            <a:off x="8042564" y="1803857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1"/>
          <p:cNvSpPr/>
          <p:nvPr/>
        </p:nvSpPr>
        <p:spPr>
          <a:xfrm>
            <a:off x="8042564" y="1803857"/>
            <a:ext cx="18745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22"/>
          <p:cNvSpPr/>
          <p:nvPr/>
        </p:nvSpPr>
        <p:spPr>
          <a:xfrm>
            <a:off x="8042564" y="1803857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2. 접착 (엣지)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8134004" y="2306777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엣지밴더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(SCM/APEX)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1596044" y="4222863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1596044" y="4222863"/>
            <a:ext cx="187452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8" name="Text 26"/>
          <p:cNvSpPr/>
          <p:nvPr/>
        </p:nvSpPr>
        <p:spPr>
          <a:xfrm>
            <a:off x="1596044" y="4222863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3. 가공 (보링)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27"/>
          <p:cNvSpPr/>
          <p:nvPr/>
        </p:nvSpPr>
        <p:spPr>
          <a:xfrm>
            <a:off x="1687484" y="4725783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양면/포인트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보링기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28"/>
          <p:cNvSpPr/>
          <p:nvPr/>
        </p:nvSpPr>
        <p:spPr>
          <a:xfrm>
            <a:off x="3470564" y="4497183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2000" b="1" dirty="0" smtClean="0">
                <a:solidFill>
                  <a:srgbClr val="0891B2"/>
                </a:solidFill>
                <a:latin typeface="Calibri" panose="020F0502020204030204"/>
              </a:rPr>
              <a:t>→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3744884" y="4222863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0"/>
          <p:cNvSpPr/>
          <p:nvPr/>
        </p:nvSpPr>
        <p:spPr>
          <a:xfrm>
            <a:off x="3744884" y="4222863"/>
            <a:ext cx="18745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31"/>
          <p:cNvSpPr/>
          <p:nvPr/>
        </p:nvSpPr>
        <p:spPr>
          <a:xfrm>
            <a:off x="3744884" y="4222863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4. 포장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32"/>
          <p:cNvSpPr/>
          <p:nvPr/>
        </p:nvSpPr>
        <p:spPr>
          <a:xfrm>
            <a:off x="3836324" y="4725783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자동 포장기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출하 준비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33"/>
          <p:cNvSpPr/>
          <p:nvPr/>
        </p:nvSpPr>
        <p:spPr>
          <a:xfrm>
            <a:off x="5619404" y="4497183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2000" b="1" dirty="0">
                <a:solidFill>
                  <a:srgbClr val="0891B2"/>
                </a:solidFill>
                <a:latin typeface="Calibri" panose="020F0502020204030204"/>
              </a:rPr>
              <a:t>→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34"/>
          <p:cNvSpPr/>
          <p:nvPr/>
        </p:nvSpPr>
        <p:spPr>
          <a:xfrm>
            <a:off x="5893724" y="4222863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35"/>
          <p:cNvSpPr/>
          <p:nvPr/>
        </p:nvSpPr>
        <p:spPr>
          <a:xfrm>
            <a:off x="5893724" y="4222863"/>
            <a:ext cx="187452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36"/>
          <p:cNvSpPr/>
          <p:nvPr/>
        </p:nvSpPr>
        <p:spPr>
          <a:xfrm>
            <a:off x="5893724" y="4222863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현장 설치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37"/>
          <p:cNvSpPr/>
          <p:nvPr/>
        </p:nvSpPr>
        <p:spPr>
          <a:xfrm>
            <a:off x="5985164" y="4725783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현장 배송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설치/시공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38"/>
          <p:cNvSpPr/>
          <p:nvPr/>
        </p:nvSpPr>
        <p:spPr>
          <a:xfrm>
            <a:off x="7768244" y="4497183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2000" b="1" dirty="0">
                <a:solidFill>
                  <a:srgbClr val="0891B2"/>
                </a:solidFill>
                <a:latin typeface="Calibri" panose="020F0502020204030204"/>
              </a:rPr>
              <a:t>→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39"/>
          <p:cNvSpPr/>
          <p:nvPr/>
        </p:nvSpPr>
        <p:spPr>
          <a:xfrm>
            <a:off x="8042564" y="4222863"/>
            <a:ext cx="1874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40"/>
          <p:cNvSpPr/>
          <p:nvPr/>
        </p:nvSpPr>
        <p:spPr>
          <a:xfrm>
            <a:off x="8042564" y="4222863"/>
            <a:ext cx="1874520" cy="4114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3" name="Text 41"/>
          <p:cNvSpPr/>
          <p:nvPr/>
        </p:nvSpPr>
        <p:spPr>
          <a:xfrm>
            <a:off x="8042564" y="4222863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A/S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4" name="Text 42"/>
          <p:cNvSpPr/>
          <p:nvPr/>
        </p:nvSpPr>
        <p:spPr>
          <a:xfrm>
            <a:off x="8134004" y="4725783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입주 하자보수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latinLnBrk="0"/>
            <a:r>
              <a:rPr lang="en-US" sz="1600" dirty="0">
                <a:solidFill>
                  <a:srgbClr val="0070C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사후 관리</a:t>
            </a:r>
            <a:endParaRPr lang="en-US" sz="1600" dirty="0">
              <a:solidFill>
                <a:srgbClr val="0070C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5" name="Shape 43"/>
          <p:cNvSpPr/>
          <p:nvPr/>
        </p:nvSpPr>
        <p:spPr>
          <a:xfrm>
            <a:off x="1596044" y="5777343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28"/>
          <p:cNvSpPr/>
          <p:nvPr/>
        </p:nvSpPr>
        <p:spPr>
          <a:xfrm>
            <a:off x="3473183" y="2075231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2000" b="1" dirty="0" smtClean="0">
                <a:solidFill>
                  <a:srgbClr val="0891B2"/>
                </a:solidFill>
                <a:latin typeface="Calibri" panose="020F0502020204030204"/>
              </a:rPr>
              <a:t>→</a:t>
            </a:r>
            <a:endParaRPr lang="en-US" sz="2000" b="1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7065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0428" y="692543"/>
            <a:ext cx="3389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5.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공정별 장비 현황</a:t>
            </a:r>
            <a:endParaRPr lang="ko-KR" altLang="en-US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284162"/>
              </p:ext>
            </p:extLst>
          </p:nvPr>
        </p:nvGraphicFramePr>
        <p:xfrm>
          <a:off x="1601905" y="1305221"/>
          <a:ext cx="8782416" cy="4896410"/>
        </p:xfrm>
        <a:graphic>
          <a:graphicData uri="http://schemas.openxmlformats.org/drawingml/2006/table">
            <a:tbl>
              <a:tblPr/>
              <a:tblGrid>
                <a:gridCol w="788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2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8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0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9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292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ln w="9525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</a:ln>
                          <a:solidFill>
                            <a:srgbClr val="FFF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공정</a:t>
                      </a:r>
                      <a:endParaRPr lang="en-US" sz="1600" dirty="0">
                        <a:ln w="9525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ln>
                        <a:solidFill>
                          <a:srgbClr val="FFF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ln w="9525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</a:ln>
                          <a:solidFill>
                            <a:srgbClr val="FFF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관리번호</a:t>
                      </a:r>
                      <a:endParaRPr lang="en-US" sz="1600" dirty="0">
                        <a:ln w="9525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ln>
                        <a:solidFill>
                          <a:srgbClr val="FFF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ln w="9525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</a:ln>
                          <a:solidFill>
                            <a:srgbClr val="FFF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장비명</a:t>
                      </a:r>
                      <a:endParaRPr lang="en-US" sz="1600" dirty="0">
                        <a:ln w="9525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ln>
                        <a:solidFill>
                          <a:srgbClr val="FFF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ln w="9525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</a:ln>
                          <a:solidFill>
                            <a:srgbClr val="FFF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모델/제조사</a:t>
                      </a:r>
                      <a:endParaRPr lang="en-US" sz="1600" dirty="0">
                        <a:ln w="9525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ln>
                        <a:solidFill>
                          <a:srgbClr val="FFF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ln w="9525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</a:ln>
                          <a:solidFill>
                            <a:srgbClr val="FFF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사양</a:t>
                      </a:r>
                      <a:endParaRPr lang="en-US" sz="1600" dirty="0">
                        <a:ln w="9525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ln>
                        <a:solidFill>
                          <a:srgbClr val="FFF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ln w="9525">
                            <a:solidFill>
                              <a:schemeClr val="accent1">
                                <a:lumMod val="20000"/>
                                <a:lumOff val="80000"/>
                              </a:schemeClr>
                            </a:solidFill>
                          </a:ln>
                          <a:solidFill>
                            <a:srgbClr val="FFF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IoT</a:t>
                      </a:r>
                      <a:endParaRPr lang="en-US" sz="1600" dirty="0">
                        <a:ln w="9525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ln>
                        <a:solidFill>
                          <a:srgbClr val="FFF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1.절단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HKM-01-05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CNC 재단기 (Gabbiani A3)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SCM / 80KW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자동재단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●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1.절단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HKM-01-03~04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CNC 재단기 (Running Saw)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해성 / 20KW×2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반자동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○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1.절단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HKM-01-01~02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횡절/CNC 재단기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원풍 외 / 26KW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반자동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○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2.접착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HKM-02-06~07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싱글 엣지밴더 (Stefani)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SCM / 26.6KW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17~30M/min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●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2.접착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HKM-02-08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더블 엣지밴더 (Stefani)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SCM / 46.8KW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17~30M/min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●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2.접착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HKM-02-02~05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더블/싱글 엣지밴더 (APEX)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APEX / 8~14KW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17~20M/min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△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2.접착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HKM-02-09~10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싱글 엣지밴더 (APEX)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APEX / 8KW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18M/min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△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2.접착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HKM-02-01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싱글 엣지밴더 (Mini)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현대산기 / 5.3KW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15M/min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-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3.가공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HKM-03-07~08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양면/포인트 보링기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BIESSE / 22+13KW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CNC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○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3.가공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HKM-03-10~11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단면/멀티 보링기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BIESSE,SCM / 39KW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CNC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○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3.가공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HKM-03-09,12,13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기타 보링기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JILI,예쓰제이 외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보조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-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3.가공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HKM-03-01,06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경첩/3축 보링기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세마텍,ONURI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보조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-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808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4.포장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HKM-04-01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자동 포장기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㈜우영 / 1.3KW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자동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ln w="9525">
                            <a:solidFill>
                              <a:srgbClr val="0070C0"/>
                            </a:solidFill>
                          </a:ln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○</a:t>
                      </a:r>
                      <a:endParaRPr lang="en-US" sz="1200" b="0" dirty="0">
                        <a:ln w="9525">
                          <a:solidFill>
                            <a:srgbClr val="0070C0"/>
                          </a:solidFill>
                        </a:ln>
                        <a:solidFill>
                          <a:schemeClr val="accent1">
                            <a:lumMod val="75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 5"/>
          <p:cNvSpPr/>
          <p:nvPr/>
        </p:nvSpPr>
        <p:spPr>
          <a:xfrm>
            <a:off x="1838369" y="6206071"/>
            <a:ext cx="3803556" cy="351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altLang="ko-KR" sz="1200" b="1" dirty="0" smtClean="0">
                <a:ln w="9525">
                  <a:solidFill>
                    <a:srgbClr val="0070C0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●</a:t>
            </a:r>
            <a:r>
              <a:rPr lang="en-US" sz="1200" b="1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연동완료   </a:t>
            </a:r>
            <a:r>
              <a:rPr lang="en-US" altLang="ko-KR" sz="1200" b="1" dirty="0" smtClean="0">
                <a:ln w="9525">
                  <a:solidFill>
                    <a:srgbClr val="0070C0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△</a:t>
            </a:r>
            <a:r>
              <a:rPr lang="en-US" sz="1200" b="1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분석중   </a:t>
            </a:r>
            <a:r>
              <a:rPr lang="en-US" altLang="ko-KR" sz="1200" b="1" dirty="0" smtClean="0">
                <a:ln w="9525">
                  <a:solidFill>
                    <a:srgbClr val="0070C0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○</a:t>
            </a:r>
            <a:r>
              <a:rPr lang="en-US" sz="1200" b="1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계획수립   </a:t>
            </a:r>
            <a:r>
              <a:rPr lang="en-US" altLang="ko-KR" sz="1200" b="1" dirty="0" smtClean="0">
                <a:ln w="9525">
                  <a:solidFill>
                    <a:srgbClr val="0070C0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-</a:t>
            </a:r>
            <a:r>
              <a:rPr lang="en-US" sz="1200" b="1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</a:t>
            </a:r>
            <a:r>
              <a:rPr lang="en-US" sz="1200" b="1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향후검토</a:t>
            </a:r>
            <a:endParaRPr lang="en-US" sz="1200" b="1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561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0142" y="697641"/>
            <a:ext cx="8576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6. </a:t>
            </a:r>
            <a:r>
              <a:rPr lang="en-US" altLang="ko-KR" sz="2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IoT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데이터 처리 시스템 </a:t>
            </a:r>
            <a:r>
              <a:rPr lang="ko-KR" altLang="en-US" sz="2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구성도</a:t>
            </a:r>
            <a:endParaRPr lang="ko-KR" altLang="en-US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476079" y="1471413"/>
            <a:ext cx="9547450" cy="15174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3532511" y="1510888"/>
            <a:ext cx="7873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SCM-</a:t>
            </a:r>
            <a:r>
              <a:rPr lang="ko-KR" altLang="en-US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앵글라</a:t>
            </a:r>
            <a:endParaRPr lang="ko-KR" altLang="en-US" sz="9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56254" y="1503280"/>
            <a:ext cx="6815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SCM-</a:t>
            </a:r>
            <a:r>
              <a:rPr lang="ko-KR" altLang="en-US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더블</a:t>
            </a:r>
            <a:endParaRPr lang="ko-KR" altLang="en-US" sz="9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80393" y="1495274"/>
            <a:ext cx="6815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SCM-</a:t>
            </a:r>
            <a:r>
              <a:rPr lang="ko-KR" altLang="en-US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싱글</a:t>
            </a:r>
            <a:endParaRPr lang="ko-KR" altLang="en-US" sz="9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22296" y="1492334"/>
            <a:ext cx="9989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SCM-</a:t>
            </a:r>
            <a:r>
              <a:rPr lang="ko-KR" altLang="en-US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파워플랙스</a:t>
            </a:r>
            <a:endParaRPr lang="ko-KR" altLang="en-US" sz="9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435968" y="1494604"/>
            <a:ext cx="753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APEX-</a:t>
            </a:r>
            <a:r>
              <a:rPr lang="ko-KR" altLang="en-US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더블</a:t>
            </a:r>
            <a:endParaRPr lang="ko-KR" altLang="en-US" sz="9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99352" y="1492217"/>
            <a:ext cx="753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APEX-</a:t>
            </a:r>
            <a:r>
              <a:rPr lang="ko-KR" altLang="en-US" sz="9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싱글</a:t>
            </a:r>
            <a:endParaRPr lang="ko-KR" altLang="en-US" sz="9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cxnSp>
        <p:nvCxnSpPr>
          <p:cNvPr id="31" name="직선 화살표 연결선 30"/>
          <p:cNvCxnSpPr/>
          <p:nvPr/>
        </p:nvCxnSpPr>
        <p:spPr>
          <a:xfrm>
            <a:off x="3893321" y="2041410"/>
            <a:ext cx="0" cy="31186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그림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815119" y="2276587"/>
            <a:ext cx="156404" cy="313131"/>
          </a:xfrm>
          <a:prstGeom prst="rect">
            <a:avLst/>
          </a:prstGeom>
        </p:spPr>
      </p:pic>
      <p:cxnSp>
        <p:nvCxnSpPr>
          <p:cNvPr id="36" name="직선 연결선 35"/>
          <p:cNvCxnSpPr/>
          <p:nvPr/>
        </p:nvCxnSpPr>
        <p:spPr>
          <a:xfrm>
            <a:off x="3893321" y="2736603"/>
            <a:ext cx="5912147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 flipV="1">
            <a:off x="3893321" y="2523084"/>
            <a:ext cx="0" cy="21412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5226824" y="2017974"/>
            <a:ext cx="0" cy="343046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148622" y="2275766"/>
            <a:ext cx="156404" cy="313131"/>
          </a:xfrm>
          <a:prstGeom prst="rect">
            <a:avLst/>
          </a:prstGeom>
        </p:spPr>
      </p:pic>
      <p:cxnSp>
        <p:nvCxnSpPr>
          <p:cNvPr id="41" name="직선 화살표 연결선 40"/>
          <p:cNvCxnSpPr/>
          <p:nvPr/>
        </p:nvCxnSpPr>
        <p:spPr>
          <a:xfrm>
            <a:off x="6252529" y="2020372"/>
            <a:ext cx="0" cy="343046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180078" y="2274324"/>
            <a:ext cx="156404" cy="313131"/>
          </a:xfrm>
          <a:prstGeom prst="rect">
            <a:avLst/>
          </a:prstGeom>
        </p:spPr>
      </p:pic>
      <p:cxnSp>
        <p:nvCxnSpPr>
          <p:cNvPr id="43" name="직선 화살표 연결선 42"/>
          <p:cNvCxnSpPr/>
          <p:nvPr/>
        </p:nvCxnSpPr>
        <p:spPr>
          <a:xfrm>
            <a:off x="7666061" y="2003909"/>
            <a:ext cx="0" cy="377351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그림 4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593611" y="2278157"/>
            <a:ext cx="156404" cy="313131"/>
          </a:xfrm>
          <a:prstGeom prst="rect">
            <a:avLst/>
          </a:prstGeom>
        </p:spPr>
      </p:pic>
      <p:cxnSp>
        <p:nvCxnSpPr>
          <p:cNvPr id="45" name="직선 화살표 연결선 44"/>
          <p:cNvCxnSpPr/>
          <p:nvPr/>
        </p:nvCxnSpPr>
        <p:spPr>
          <a:xfrm>
            <a:off x="8864372" y="2050270"/>
            <a:ext cx="0" cy="343046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786170" y="2291628"/>
            <a:ext cx="156404" cy="313131"/>
          </a:xfrm>
          <a:prstGeom prst="rect">
            <a:avLst/>
          </a:prstGeom>
        </p:spPr>
      </p:pic>
      <p:cxnSp>
        <p:nvCxnSpPr>
          <p:cNvPr id="47" name="직선 화살표 연결선 46"/>
          <p:cNvCxnSpPr/>
          <p:nvPr/>
        </p:nvCxnSpPr>
        <p:spPr>
          <a:xfrm>
            <a:off x="9805468" y="2014559"/>
            <a:ext cx="0" cy="377351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 flipV="1">
            <a:off x="5226824" y="2522217"/>
            <a:ext cx="0" cy="194659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 flipV="1">
            <a:off x="6258280" y="2506702"/>
            <a:ext cx="0" cy="21412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 flipV="1">
            <a:off x="7671812" y="2516474"/>
            <a:ext cx="0" cy="214125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 flipV="1">
            <a:off x="9813379" y="2496685"/>
            <a:ext cx="0" cy="235538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582667" y="1550805"/>
            <a:ext cx="1699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1. </a:t>
            </a:r>
            <a:r>
              <a:rPr lang="ko-KR" altLang="en-US" sz="1400" b="1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공</a:t>
            </a:r>
            <a:r>
              <a:rPr lang="ko-KR" altLang="en-US" sz="1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장 </a:t>
            </a:r>
            <a:r>
              <a:rPr lang="en-US" altLang="ko-KR" sz="1400" b="1" dirty="0" smtClean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(OT Layer)</a:t>
            </a:r>
            <a:endParaRPr lang="ko-KR" altLang="en-US" sz="1400" b="1" dirty="0">
              <a:solidFill>
                <a:schemeClr val="accent4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1465093" y="3065921"/>
            <a:ext cx="9569100" cy="1253242"/>
            <a:chOff x="763244" y="458053"/>
            <a:chExt cx="9547450" cy="1409082"/>
          </a:xfrm>
        </p:grpSpPr>
        <p:sp>
          <p:nvSpPr>
            <p:cNvPr id="97" name="모서리가 둥근 직사각형 96"/>
            <p:cNvSpPr/>
            <p:nvPr/>
          </p:nvSpPr>
          <p:spPr>
            <a:xfrm>
              <a:off x="763244" y="458053"/>
              <a:ext cx="9547450" cy="1409082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1" name="TextBox 70"/>
            <p:cNvSpPr txBox="1"/>
            <p:nvPr/>
          </p:nvSpPr>
          <p:spPr>
            <a:xfrm>
              <a:off x="6024269" y="472458"/>
              <a:ext cx="2536931" cy="259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 smtClean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MQTT Publish (3~10</a:t>
              </a:r>
              <a:r>
                <a:rPr lang="ko-KR" altLang="en-US" sz="900" b="1" dirty="0" smtClean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초 주기</a:t>
              </a:r>
              <a:r>
                <a:rPr lang="en-US" altLang="ko-KR" sz="900" b="1" dirty="0" smtClean="0">
                  <a:solidFill>
                    <a:schemeClr val="accent2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, 1KB) over Wi-Fi</a:t>
              </a:r>
              <a:endParaRPr lang="ko-KR" altLang="en-US" sz="900" b="1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  <p:cxnSp>
          <p:nvCxnSpPr>
            <p:cNvPr id="78" name="직선 연결선 77"/>
            <p:cNvCxnSpPr/>
            <p:nvPr/>
          </p:nvCxnSpPr>
          <p:spPr>
            <a:xfrm>
              <a:off x="3587313" y="1003569"/>
              <a:ext cx="2094980" cy="0"/>
            </a:xfrm>
            <a:prstGeom prst="line">
              <a:avLst/>
            </a:prstGeom>
            <a:ln w="254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/>
            <p:cNvSpPr txBox="1"/>
            <p:nvPr/>
          </p:nvSpPr>
          <p:spPr>
            <a:xfrm>
              <a:off x="835865" y="583890"/>
              <a:ext cx="2490548" cy="3460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2</a:t>
              </a:r>
              <a:r>
                <a:rPr lang="en-US" altLang="ko-KR" sz="1400" b="1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. </a:t>
              </a:r>
              <a:r>
                <a:rPr lang="ko-KR" altLang="en-US" sz="1400" b="1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네트워크 </a:t>
              </a:r>
              <a:r>
                <a:rPr lang="en-US" altLang="ko-KR" sz="1400" b="1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(Network Layer)</a:t>
              </a:r>
              <a:endParaRPr lang="ko-KR" altLang="en-US" sz="1400" b="1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</p:grpSp>
      <p:pic>
        <p:nvPicPr>
          <p:cNvPr id="67" name="그림 6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330" y="3374164"/>
            <a:ext cx="455764" cy="494011"/>
          </a:xfrm>
          <a:prstGeom prst="rect">
            <a:avLst/>
          </a:prstGeom>
        </p:spPr>
      </p:pic>
      <p:cxnSp>
        <p:nvCxnSpPr>
          <p:cNvPr id="104" name="직선 화살표 연결선 103"/>
          <p:cNvCxnSpPr/>
          <p:nvPr/>
        </p:nvCxnSpPr>
        <p:spPr>
          <a:xfrm>
            <a:off x="6612734" y="2730391"/>
            <a:ext cx="0" cy="567232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/>
          <p:cNvGrpSpPr/>
          <p:nvPr/>
        </p:nvGrpSpPr>
        <p:grpSpPr>
          <a:xfrm>
            <a:off x="1440383" y="4404531"/>
            <a:ext cx="9547450" cy="1029203"/>
            <a:chOff x="727597" y="680676"/>
            <a:chExt cx="9547450" cy="1409082"/>
          </a:xfrm>
          <a:solidFill>
            <a:schemeClr val="tx2">
              <a:lumMod val="20000"/>
              <a:lumOff val="80000"/>
            </a:schemeClr>
          </a:solidFill>
        </p:grpSpPr>
        <p:sp>
          <p:nvSpPr>
            <p:cNvPr id="107" name="모서리가 둥근 직사각형 106"/>
            <p:cNvSpPr/>
            <p:nvPr/>
          </p:nvSpPr>
          <p:spPr>
            <a:xfrm>
              <a:off x="727597" y="680676"/>
              <a:ext cx="9547450" cy="1409082"/>
            </a:xfrm>
            <a:prstGeom prst="roundRect">
              <a:avLst/>
            </a:prstGeom>
            <a:grp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0" name="TextBox 109"/>
            <p:cNvSpPr txBox="1"/>
            <p:nvPr/>
          </p:nvSpPr>
          <p:spPr>
            <a:xfrm>
              <a:off x="826900" y="818184"/>
              <a:ext cx="2116285" cy="421378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3</a:t>
              </a:r>
              <a:r>
                <a:rPr lang="en-US" altLang="ko-KR" sz="1400" b="1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. </a:t>
              </a:r>
              <a:r>
                <a:rPr lang="ko-KR" altLang="en-US" sz="1400" b="1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사무실</a:t>
              </a:r>
              <a:r>
                <a:rPr lang="en-US" altLang="ko-KR" sz="1400" b="1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 </a:t>
              </a:r>
              <a:r>
                <a:rPr lang="ko-KR" altLang="en-US" sz="1400" b="1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서버 </a:t>
              </a:r>
              <a:r>
                <a:rPr lang="en-US" altLang="ko-KR" sz="1400" b="1" dirty="0" smtClean="0">
                  <a:solidFill>
                    <a:schemeClr val="accent4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(IT Layer)</a:t>
              </a:r>
              <a:endParaRPr lang="ko-KR" altLang="en-US" sz="1400" b="1" dirty="0">
                <a:solidFill>
                  <a:schemeClr val="accent4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</p:grpSp>
      <p:grpSp>
        <p:nvGrpSpPr>
          <p:cNvPr id="111" name="그룹 110"/>
          <p:cNvGrpSpPr/>
          <p:nvPr/>
        </p:nvGrpSpPr>
        <p:grpSpPr>
          <a:xfrm>
            <a:off x="1429874" y="5510634"/>
            <a:ext cx="9547450" cy="1046280"/>
            <a:chOff x="727597" y="680676"/>
            <a:chExt cx="9547450" cy="1409082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12" name="모서리가 둥근 직사각형 111"/>
            <p:cNvSpPr/>
            <p:nvPr/>
          </p:nvSpPr>
          <p:spPr>
            <a:xfrm>
              <a:off x="727597" y="680676"/>
              <a:ext cx="9547450" cy="1409082"/>
            </a:xfrm>
            <a:prstGeom prst="roundRect">
              <a:avLst/>
            </a:prstGeom>
            <a:solidFill>
              <a:srgbClr val="EEDCEA"/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5" name="TextBox 114"/>
            <p:cNvSpPr txBox="1"/>
            <p:nvPr/>
          </p:nvSpPr>
          <p:spPr>
            <a:xfrm>
              <a:off x="836985" y="820903"/>
              <a:ext cx="1976823" cy="414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accent3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4. </a:t>
              </a:r>
              <a:r>
                <a:rPr lang="ko-KR" altLang="en-US" sz="1400" b="1" dirty="0" smtClean="0">
                  <a:solidFill>
                    <a:schemeClr val="accent3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관리자</a:t>
              </a:r>
              <a:r>
                <a:rPr lang="en-US" altLang="ko-KR" sz="1400" b="1" dirty="0" smtClean="0">
                  <a:solidFill>
                    <a:schemeClr val="accent3">
                      <a:lumMod val="50000"/>
                    </a:schemeClr>
                  </a:solidFill>
                  <a:latin typeface="Noto Sans KR SemiBold" panose="020B0200000000000000" pitchFamily="50" charset="-127"/>
                  <a:ea typeface="Noto Sans KR SemiBold" panose="020B0200000000000000" pitchFamily="50" charset="-127"/>
                </a:rPr>
                <a:t> (User Layer)</a:t>
              </a:r>
              <a:endParaRPr lang="ko-KR" altLang="en-US" sz="1400" b="1" dirty="0">
                <a:solidFill>
                  <a:schemeClr val="accent3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endParaRPr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3191371" y="2069572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OPC Agent</a:t>
            </a:r>
          </a:p>
          <a:p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Service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994716" y="2317668"/>
            <a:ext cx="5998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MCU #1 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337451" y="2317668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MCU #2 </a:t>
            </a:r>
          </a:p>
          <a:p>
            <a:endParaRPr lang="ko-KR" altLang="en-US" sz="800" b="1" dirty="0">
              <a:solidFill>
                <a:schemeClr val="accent1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372524" y="2310627"/>
            <a:ext cx="5998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MCU #3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759611" y="2307444"/>
            <a:ext cx="5998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MCU #4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54689" y="2325812"/>
            <a:ext cx="57099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MCU #5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915967" y="2325086"/>
            <a:ext cx="5998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1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MCU #6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592592" y="2751159"/>
            <a:ext cx="833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1KB </a:t>
            </a:r>
            <a:r>
              <a:rPr lang="ko-KR" altLang="en-US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패킷 생성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76339" y="208001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3">
                    <a:lumMod val="75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…</a:t>
            </a:r>
            <a:endParaRPr lang="ko-KR" altLang="en-US" dirty="0">
              <a:solidFill>
                <a:schemeClr val="accent3">
                  <a:lumMod val="75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533625" y="2098668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OPC Agent</a:t>
            </a:r>
          </a:p>
          <a:p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Service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98453" y="2032731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OPC Agent</a:t>
            </a:r>
          </a:p>
          <a:p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Service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995822" y="2047688"/>
            <a:ext cx="8222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OPC Agent</a:t>
            </a:r>
          </a:p>
          <a:p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Service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307439" y="2045044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RS485/</a:t>
            </a:r>
          </a:p>
          <a:p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Modbus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cxnSp>
        <p:nvCxnSpPr>
          <p:cNvPr id="132" name="직선 화살표 연결선 131"/>
          <p:cNvCxnSpPr/>
          <p:nvPr/>
        </p:nvCxnSpPr>
        <p:spPr>
          <a:xfrm>
            <a:off x="4300076" y="3558620"/>
            <a:ext cx="0" cy="978754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4611449" y="3602146"/>
            <a:ext cx="9941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MQTT Subscribe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249643" y="3893267"/>
            <a:ext cx="840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MQTT Broker</a:t>
            </a:r>
          </a:p>
          <a:p>
            <a:r>
              <a:rPr lang="en-US" altLang="ko-KR" sz="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(Mosquitto)</a:t>
            </a:r>
            <a:endParaRPr lang="ko-KR" altLang="en-US" sz="8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069" y="5562297"/>
            <a:ext cx="1193087" cy="791674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146" y="3354007"/>
            <a:ext cx="268634" cy="21165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806" y="4500934"/>
            <a:ext cx="556825" cy="608164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692" y="4443627"/>
            <a:ext cx="488190" cy="583345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7191581" y="4788220"/>
            <a:ext cx="8370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SQL </a:t>
            </a:r>
            <a:r>
              <a:rPr lang="ko-KR" altLang="en-US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쿼리 조회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3949832" y="5025257"/>
            <a:ext cx="6896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Node-RED</a:t>
            </a:r>
            <a:endParaRPr lang="ko-KR" altLang="en-US" sz="8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6278218" y="5021932"/>
            <a:ext cx="774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데이터베이스 </a:t>
            </a:r>
            <a:endParaRPr lang="en-US" altLang="ko-KR" sz="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  <a:p>
            <a:r>
              <a:rPr lang="en-US" altLang="ko-KR" sz="800" b="1" dirty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en-US" altLang="ko-KR" sz="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(DB)</a:t>
            </a:r>
            <a:endParaRPr lang="ko-KR" altLang="en-US" sz="8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8332641" y="5095368"/>
            <a:ext cx="5790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Grafana</a:t>
            </a:r>
            <a:endParaRPr lang="ko-KR" altLang="en-US" sz="8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6880882" y="4766348"/>
            <a:ext cx="1445924" cy="7052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/>
          <p:cNvCxnSpPr/>
          <p:nvPr/>
        </p:nvCxnSpPr>
        <p:spPr>
          <a:xfrm flipH="1" flipV="1">
            <a:off x="6845706" y="5832602"/>
            <a:ext cx="1749568" cy="775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854110" y="4753207"/>
            <a:ext cx="8787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파싱</a:t>
            </a:r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및 </a:t>
            </a:r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INSERT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8605218" y="5318782"/>
            <a:ext cx="0" cy="519986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/>
          <p:nvPr/>
        </p:nvCxnSpPr>
        <p:spPr>
          <a:xfrm flipV="1">
            <a:off x="4602486" y="4728248"/>
            <a:ext cx="1749568" cy="7052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7281383" y="5887602"/>
            <a:ext cx="8691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실시간 모니터링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5463612" y="6323149"/>
            <a:ext cx="14670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관리자 </a:t>
            </a:r>
            <a:r>
              <a:rPr lang="en-US" altLang="ko-KR" sz="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PC/</a:t>
            </a:r>
            <a:r>
              <a:rPr lang="ko-KR" altLang="en-US" sz="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모바일</a:t>
            </a:r>
            <a:r>
              <a:rPr lang="en-US" altLang="ko-KR" sz="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웹 브라우져</a:t>
            </a:r>
            <a:endParaRPr lang="ko-KR" altLang="en-US" sz="8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885" y="5641851"/>
            <a:ext cx="218877" cy="415222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103" y="5642790"/>
            <a:ext cx="622220" cy="338379"/>
          </a:xfrm>
          <a:prstGeom prst="rect">
            <a:avLst/>
          </a:prstGeom>
        </p:spPr>
      </p:pic>
      <p:sp>
        <p:nvSpPr>
          <p:cNvPr id="49" name="모서리가 둥근 직사각형 48"/>
          <p:cNvSpPr/>
          <p:nvPr/>
        </p:nvSpPr>
        <p:spPr>
          <a:xfrm>
            <a:off x="3833742" y="3312244"/>
            <a:ext cx="5541273" cy="2042725"/>
          </a:xfrm>
          <a:prstGeom prst="roundRect">
            <a:avLst/>
          </a:prstGeom>
          <a:noFill/>
          <a:ln w="47625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217635" y="389439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7030A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통합 서버</a:t>
            </a:r>
            <a:endParaRPr lang="ko-KR" altLang="en-US" b="1" dirty="0">
              <a:solidFill>
                <a:srgbClr val="7030A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cxnSp>
        <p:nvCxnSpPr>
          <p:cNvPr id="144" name="직선 연결선 143"/>
          <p:cNvCxnSpPr/>
          <p:nvPr/>
        </p:nvCxnSpPr>
        <p:spPr>
          <a:xfrm flipV="1">
            <a:off x="8856698" y="2531065"/>
            <a:ext cx="0" cy="194659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947" y="1723200"/>
            <a:ext cx="696594" cy="34437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274" y="1726578"/>
            <a:ext cx="971497" cy="357826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222" y="1715128"/>
            <a:ext cx="688181" cy="364457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139" y="1696907"/>
            <a:ext cx="671231" cy="370443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892" y="1717415"/>
            <a:ext cx="731715" cy="356193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016" y="1669114"/>
            <a:ext cx="788359" cy="389412"/>
          </a:xfrm>
          <a:prstGeom prst="rect">
            <a:avLst/>
          </a:prstGeom>
        </p:spPr>
      </p:pic>
      <p:sp>
        <p:nvSpPr>
          <p:cNvPr id="4" name="타원 3"/>
          <p:cNvSpPr/>
          <p:nvPr/>
        </p:nvSpPr>
        <p:spPr>
          <a:xfrm>
            <a:off x="3645483" y="1897356"/>
            <a:ext cx="188259" cy="171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87" name="타원 86"/>
          <p:cNvSpPr/>
          <p:nvPr/>
        </p:nvSpPr>
        <p:spPr>
          <a:xfrm>
            <a:off x="4717152" y="1911102"/>
            <a:ext cx="188259" cy="17114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88" name="타원 87"/>
          <p:cNvSpPr/>
          <p:nvPr/>
        </p:nvSpPr>
        <p:spPr>
          <a:xfrm>
            <a:off x="6320716" y="1878101"/>
            <a:ext cx="188259" cy="17114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7321896" y="1868958"/>
            <a:ext cx="188259" cy="17114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94" name="타원 93"/>
          <p:cNvSpPr/>
          <p:nvPr/>
        </p:nvSpPr>
        <p:spPr>
          <a:xfrm>
            <a:off x="8424638" y="1860490"/>
            <a:ext cx="188259" cy="171147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10069245" y="1832704"/>
            <a:ext cx="188259" cy="171147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9260861" y="2017858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RS485/</a:t>
            </a:r>
          </a:p>
          <a:p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Modbus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6856045" y="3675404"/>
            <a:ext cx="1735315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/>
          <p:nvPr/>
        </p:nvCxnSpPr>
        <p:spPr>
          <a:xfrm>
            <a:off x="8614711" y="3674613"/>
            <a:ext cx="0" cy="80888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622144" y="3824300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WebSocket </a:t>
            </a:r>
          </a:p>
          <a:p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실시간</a:t>
            </a:r>
            <a:r>
              <a:rPr lang="en-US" altLang="ko-KR" sz="800" b="1" dirty="0" smtClean="0">
                <a:solidFill>
                  <a:schemeClr val="accent2">
                    <a:lumMod val="50000"/>
                  </a:schemeClr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cxnSp>
        <p:nvCxnSpPr>
          <p:cNvPr id="102" name="직선 화살표 연결선 101"/>
          <p:cNvCxnSpPr/>
          <p:nvPr/>
        </p:nvCxnSpPr>
        <p:spPr>
          <a:xfrm flipH="1" flipV="1">
            <a:off x="6835603" y="4661615"/>
            <a:ext cx="1445924" cy="7757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그림 4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727266" y="2287912"/>
            <a:ext cx="156404" cy="31313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25" y="4563795"/>
            <a:ext cx="659384" cy="40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10"/>
          <p:cNvSpPr/>
          <p:nvPr/>
        </p:nvSpPr>
        <p:spPr>
          <a:xfrm>
            <a:off x="5961947" y="3288082"/>
            <a:ext cx="4716693" cy="339581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</p:spPr>
      </p:sp>
      <p:sp>
        <p:nvSpPr>
          <p:cNvPr id="4" name="TextBox 3"/>
          <p:cNvSpPr txBox="1"/>
          <p:nvPr/>
        </p:nvSpPr>
        <p:spPr>
          <a:xfrm>
            <a:off x="1246406" y="695602"/>
            <a:ext cx="8232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   7.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구축 현황 및 성과</a:t>
            </a:r>
            <a:endParaRPr lang="en-US" altLang="ko-KR" sz="2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2" y="1414565"/>
            <a:ext cx="146304" cy="146304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1270184" y="1396277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완료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672" y="1414565"/>
            <a:ext cx="146304" cy="146304"/>
          </a:xfrm>
          <a:prstGeom prst="rect">
            <a:avLst/>
          </a:prstGeom>
        </p:spPr>
      </p:pic>
      <p:sp>
        <p:nvSpPr>
          <p:cNvPr id="7" name="Text 6"/>
          <p:cNvSpPr/>
          <p:nvPr/>
        </p:nvSpPr>
        <p:spPr>
          <a:xfrm>
            <a:off x="1910264" y="1396277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F59E0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진행중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7192" y="1414565"/>
            <a:ext cx="146304" cy="146304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2641784" y="1396277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예정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44965" y="1377327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latinLnBrk="0"/>
            <a:r>
              <a:rPr lang="en-US" sz="1200" dirty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기준일: 2026.03.08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Shape 10"/>
          <p:cNvSpPr/>
          <p:nvPr/>
        </p:nvSpPr>
        <p:spPr>
          <a:xfrm>
            <a:off x="1014150" y="1634282"/>
            <a:ext cx="4716693" cy="339581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1"/>
          <p:cNvSpPr/>
          <p:nvPr/>
        </p:nvSpPr>
        <p:spPr>
          <a:xfrm>
            <a:off x="1105592" y="1689147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1단계: IoT 연결 &amp; 데이터 수집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Text 12"/>
          <p:cNvSpPr/>
          <p:nvPr/>
        </p:nvSpPr>
        <p:spPr>
          <a:xfrm>
            <a:off x="3537896" y="1689147"/>
            <a:ext cx="15983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latinLnBrk="0"/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7/5/2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3609" y="2064881"/>
            <a:ext cx="1342293" cy="187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현장/장비 분석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014861" y="2066422"/>
            <a:ext cx="2553847" cy="181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22대 설비 특성 분석, IoT 아키텍처 수립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233609" y="2289672"/>
            <a:ext cx="1640434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SCM-GA3 OPC DA 연동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3014861" y="2296239"/>
            <a:ext cx="2553847" cy="153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BC++ Builder 6, 8개 태그, PLC 맵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1233609" y="2489887"/>
            <a:ext cx="1640434" cy="19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PLC 레지스터 맵 구축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014861" y="2480807"/>
            <a:ext cx="2369248" cy="190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WinCutPlus I/F, MW1000~8000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233609" y="2719055"/>
            <a:ext cx="1408175" cy="168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ESP32 MCU 펌웨어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3014861" y="2696590"/>
            <a:ext cx="2947086" cy="18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FreeRTOS, STX/ETX/XOR, MQTT 큐잉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1233609" y="2918982"/>
            <a:ext cx="1536191" cy="18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Docker 통합 서버 구축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3014861" y="2891460"/>
            <a:ext cx="2459677" cy="2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MQTT &gt; Node-RED &gt; DB &gt; Grafana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1233609" y="3135371"/>
            <a:ext cx="1389887" cy="187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IoT 파이프라인 검증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3014861" y="3117306"/>
            <a:ext cx="2369248" cy="202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안정성 확인</a:t>
            </a:r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, OPC </a:t>
            </a:r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Quality 해결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1233609" y="3354220"/>
            <a:ext cx="1536191" cy="169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Grafana 대시보드 구현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3006548" y="3324860"/>
            <a:ext cx="2467990" cy="21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설비 가동, 생산량, 실시간 모니터링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27"/>
          <p:cNvSpPr/>
          <p:nvPr/>
        </p:nvSpPr>
        <p:spPr>
          <a:xfrm>
            <a:off x="1233609" y="3561108"/>
            <a:ext cx="1389887" cy="18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SCM-Stefani 연동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28"/>
          <p:cNvSpPr/>
          <p:nvPr/>
        </p:nvSpPr>
        <p:spPr>
          <a:xfrm>
            <a:off x="3014861" y="3547835"/>
            <a:ext cx="2616441" cy="21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TcAdsDll/Beckhoff TC1000 진단 완료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1233609" y="3780260"/>
            <a:ext cx="1536191" cy="194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APEX 엣지밴더 연동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3014861" y="3759311"/>
            <a:ext cx="2634851" cy="21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RS485/Modbus, 제조사 협의, I/F 보드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31"/>
          <p:cNvSpPr/>
          <p:nvPr/>
        </p:nvSpPr>
        <p:spPr>
          <a:xfrm>
            <a:off x="1233609" y="3977119"/>
            <a:ext cx="1536191" cy="20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IoT 데이터 수집 안정화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32"/>
          <p:cNvSpPr/>
          <p:nvPr/>
        </p:nvSpPr>
        <p:spPr>
          <a:xfrm>
            <a:off x="2998235" y="3972924"/>
            <a:ext cx="2040825" cy="23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추가 설비 연동 및 통신 최적화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37"/>
          <p:cNvSpPr/>
          <p:nvPr/>
        </p:nvSpPr>
        <p:spPr>
          <a:xfrm>
            <a:off x="8461074" y="1689147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latinLnBrk="0"/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0/3/4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38"/>
          <p:cNvSpPr/>
          <p:nvPr/>
        </p:nvSpPr>
        <p:spPr>
          <a:xfrm>
            <a:off x="1221994" y="4196831"/>
            <a:ext cx="1328135" cy="193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정부 과제 신청 대응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1" name="Text 39"/>
          <p:cNvSpPr/>
          <p:nvPr/>
        </p:nvSpPr>
        <p:spPr>
          <a:xfrm>
            <a:off x="3003252" y="4222429"/>
            <a:ext cx="2676873" cy="16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고경력지원</a:t>
            </a:r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, </a:t>
            </a:r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혁신형 과제</a:t>
            </a:r>
            <a:r>
              <a:rPr lang="en-US" sz="1200" dirty="0" smtClean="0">
                <a:solidFill>
                  <a:srgbClr val="6D788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, 스마트공장 </a:t>
            </a:r>
            <a:r>
              <a:rPr lang="ko-KR" altLang="en-US" sz="1200" dirty="0" smtClean="0">
                <a:solidFill>
                  <a:srgbClr val="6D7887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수준</a:t>
            </a:r>
            <a:endParaRPr lang="en-US" sz="1200" dirty="0">
              <a:solidFill>
                <a:srgbClr val="6D7887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3" name="Text 40"/>
          <p:cNvSpPr/>
          <p:nvPr/>
        </p:nvSpPr>
        <p:spPr>
          <a:xfrm>
            <a:off x="6244876" y="2309285"/>
            <a:ext cx="1728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품질검사 </a:t>
            </a:r>
            <a:r>
              <a:rPr lang="ko-KR" altLang="en-US" sz="1200" b="1" dirty="0" smtClean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개발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4" name="Text 41"/>
          <p:cNvSpPr/>
          <p:nvPr/>
        </p:nvSpPr>
        <p:spPr>
          <a:xfrm>
            <a:off x="8287124" y="2318686"/>
            <a:ext cx="2104986" cy="124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카메라/Edge AI, 7개 검사항목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6" name="Text 42"/>
          <p:cNvSpPr/>
          <p:nvPr/>
        </p:nvSpPr>
        <p:spPr>
          <a:xfrm>
            <a:off x="1246406" y="4937897"/>
            <a:ext cx="1728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ERP 연동 I/F 설계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7" name="Text 43"/>
          <p:cNvSpPr/>
          <p:nvPr/>
        </p:nvSpPr>
        <p:spPr>
          <a:xfrm>
            <a:off x="3003094" y="4911897"/>
            <a:ext cx="2082037" cy="189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레거시 ERP 구조 분석, 연동 착수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9" name="Text 44"/>
          <p:cNvSpPr/>
          <p:nvPr/>
        </p:nvSpPr>
        <p:spPr>
          <a:xfrm>
            <a:off x="1231113" y="4682569"/>
            <a:ext cx="1419790" cy="18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MES 기초 모듈 구축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2" name="Text 46"/>
          <p:cNvSpPr/>
          <p:nvPr/>
        </p:nvSpPr>
        <p:spPr>
          <a:xfrm>
            <a:off x="6241897" y="2100930"/>
            <a:ext cx="1728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 smtClean="0"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QMS/FMS </a:t>
            </a:r>
            <a:r>
              <a:rPr lang="ko-KR" altLang="en-US" sz="1200" b="1" dirty="0" smtClean="0"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모듈 설계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5" name="Text 48"/>
          <p:cNvSpPr/>
          <p:nvPr/>
        </p:nvSpPr>
        <p:spPr>
          <a:xfrm>
            <a:off x="1238619" y="4443569"/>
            <a:ext cx="1728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홈페이지 개발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0" name="Text 53"/>
          <p:cNvSpPr/>
          <p:nvPr/>
        </p:nvSpPr>
        <p:spPr>
          <a:xfrm>
            <a:off x="8650284" y="335432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latinLnBrk="0"/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0/0/3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71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240" y="3767792"/>
            <a:ext cx="128016" cy="128016"/>
          </a:xfrm>
          <a:prstGeom prst="rect">
            <a:avLst/>
          </a:prstGeom>
        </p:spPr>
      </p:pic>
      <p:sp>
        <p:nvSpPr>
          <p:cNvPr id="72" name="Text 54"/>
          <p:cNvSpPr/>
          <p:nvPr/>
        </p:nvSpPr>
        <p:spPr>
          <a:xfrm>
            <a:off x="6204976" y="3758648"/>
            <a:ext cx="1728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QMS/FMS </a:t>
            </a:r>
            <a:r>
              <a:rPr lang="ko-KR" altLang="en-US" sz="1200" b="1" dirty="0" smtClean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시스템 운영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3" name="Text 55"/>
          <p:cNvSpPr/>
          <p:nvPr/>
        </p:nvSpPr>
        <p:spPr>
          <a:xfrm>
            <a:off x="8319249" y="3755738"/>
            <a:ext cx="22631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품질/설비관리 </a:t>
            </a:r>
            <a:r>
              <a:rPr lang="ko-KR" altLang="en-US" sz="1200" dirty="0" smtClean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운영 및 오류 개선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74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240" y="3986834"/>
            <a:ext cx="128016" cy="128016"/>
          </a:xfrm>
          <a:prstGeom prst="rect">
            <a:avLst/>
          </a:prstGeom>
        </p:spPr>
      </p:pic>
      <p:sp>
        <p:nvSpPr>
          <p:cNvPr id="75" name="Text 56"/>
          <p:cNvSpPr/>
          <p:nvPr/>
        </p:nvSpPr>
        <p:spPr>
          <a:xfrm>
            <a:off x="6204976" y="3977690"/>
            <a:ext cx="1728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시범 적용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6" name="Text 57"/>
          <p:cNvSpPr/>
          <p:nvPr/>
        </p:nvSpPr>
        <p:spPr>
          <a:xfrm>
            <a:off x="8319249" y="3974780"/>
            <a:ext cx="22631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협동조합 공동사업 연계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77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240" y="4205876"/>
            <a:ext cx="128016" cy="128016"/>
          </a:xfrm>
          <a:prstGeom prst="rect">
            <a:avLst/>
          </a:prstGeom>
        </p:spPr>
      </p:pic>
      <p:sp>
        <p:nvSpPr>
          <p:cNvPr id="78" name="Text 58"/>
          <p:cNvSpPr/>
          <p:nvPr/>
        </p:nvSpPr>
        <p:spPr>
          <a:xfrm>
            <a:off x="6204976" y="4196732"/>
            <a:ext cx="1728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Robotics 타당성 검토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9" name="Text 59"/>
          <p:cNvSpPr/>
          <p:nvPr/>
        </p:nvSpPr>
        <p:spPr>
          <a:xfrm>
            <a:off x="8319249" y="4193822"/>
            <a:ext cx="22631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94A3B8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자동화 로봇 도입 FS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0" name="Text 60"/>
          <p:cNvSpPr/>
          <p:nvPr/>
        </p:nvSpPr>
        <p:spPr>
          <a:xfrm>
            <a:off x="6109404" y="4671917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i="1" dirty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+ 추가 업무 예비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81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40" y="2092294"/>
            <a:ext cx="146304" cy="146304"/>
          </a:xfrm>
          <a:prstGeom prst="rect">
            <a:avLst/>
          </a:prstGeom>
        </p:spPr>
      </p:pic>
      <p:pic>
        <p:nvPicPr>
          <p:cNvPr id="8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40" y="2305641"/>
            <a:ext cx="146304" cy="146304"/>
          </a:xfrm>
          <a:prstGeom prst="rect">
            <a:avLst/>
          </a:prstGeom>
        </p:spPr>
      </p:pic>
      <p:pic>
        <p:nvPicPr>
          <p:cNvPr id="8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40" y="2518988"/>
            <a:ext cx="146304" cy="146304"/>
          </a:xfrm>
          <a:prstGeom prst="rect">
            <a:avLst/>
          </a:prstGeom>
        </p:spPr>
      </p:pic>
      <p:pic>
        <p:nvPicPr>
          <p:cNvPr id="8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40" y="2732335"/>
            <a:ext cx="146304" cy="146304"/>
          </a:xfrm>
          <a:prstGeom prst="rect">
            <a:avLst/>
          </a:prstGeom>
        </p:spPr>
      </p:pic>
      <p:pic>
        <p:nvPicPr>
          <p:cNvPr id="8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40" y="2945682"/>
            <a:ext cx="146304" cy="146304"/>
          </a:xfrm>
          <a:prstGeom prst="rect">
            <a:avLst/>
          </a:prstGeom>
        </p:spPr>
      </p:pic>
      <p:pic>
        <p:nvPicPr>
          <p:cNvPr id="8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40" y="3585723"/>
            <a:ext cx="146304" cy="146304"/>
          </a:xfrm>
          <a:prstGeom prst="rect">
            <a:avLst/>
          </a:prstGeom>
        </p:spPr>
      </p:pic>
      <p:pic>
        <p:nvPicPr>
          <p:cNvPr id="8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40" y="3807383"/>
            <a:ext cx="146304" cy="146304"/>
          </a:xfrm>
          <a:prstGeom prst="rect">
            <a:avLst/>
          </a:prstGeom>
        </p:spPr>
      </p:pic>
      <p:pic>
        <p:nvPicPr>
          <p:cNvPr id="8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40" y="3159029"/>
            <a:ext cx="146304" cy="146304"/>
          </a:xfrm>
          <a:prstGeom prst="rect">
            <a:avLst/>
          </a:prstGeom>
        </p:spPr>
      </p:pic>
      <p:pic>
        <p:nvPicPr>
          <p:cNvPr id="9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40" y="4020728"/>
            <a:ext cx="146304" cy="146304"/>
          </a:xfrm>
          <a:prstGeom prst="rect">
            <a:avLst/>
          </a:prstGeom>
        </p:spPr>
      </p:pic>
      <p:sp>
        <p:nvSpPr>
          <p:cNvPr id="92" name="Shape 10"/>
          <p:cNvSpPr/>
          <p:nvPr/>
        </p:nvSpPr>
        <p:spPr>
          <a:xfrm>
            <a:off x="5961947" y="1630682"/>
            <a:ext cx="4716693" cy="339581"/>
          </a:xfrm>
          <a:prstGeom prst="rect">
            <a:avLst/>
          </a:prstGeom>
          <a:solidFill>
            <a:srgbClr val="EB9A41"/>
          </a:solidFill>
          <a:ln/>
        </p:spPr>
      </p:sp>
      <p:sp>
        <p:nvSpPr>
          <p:cNvPr id="47" name="Text 36"/>
          <p:cNvSpPr/>
          <p:nvPr/>
        </p:nvSpPr>
        <p:spPr>
          <a:xfrm>
            <a:off x="6181403" y="1695488"/>
            <a:ext cx="2468880" cy="219456"/>
          </a:xfrm>
          <a:prstGeom prst="rect">
            <a:avLst/>
          </a:prstGeom>
          <a:solidFill>
            <a:srgbClr val="EB9A41"/>
          </a:solidFill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2단계: 필수 시스템 구축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9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66" y="4230742"/>
            <a:ext cx="146304" cy="146304"/>
          </a:xfrm>
          <a:prstGeom prst="rect">
            <a:avLst/>
          </a:prstGeom>
        </p:spPr>
      </p:pic>
      <p:pic>
        <p:nvPicPr>
          <p:cNvPr id="9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797" y="2096933"/>
            <a:ext cx="146304" cy="146304"/>
          </a:xfrm>
          <a:prstGeom prst="rect">
            <a:avLst/>
          </a:prstGeom>
        </p:spPr>
      </p:pic>
      <p:sp>
        <p:nvSpPr>
          <p:cNvPr id="69" name="Text 52"/>
          <p:cNvSpPr/>
          <p:nvPr/>
        </p:nvSpPr>
        <p:spPr>
          <a:xfrm>
            <a:off x="6156787" y="33507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3단계: 품질 향상 &amp; 최적화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9" name="Text 43"/>
          <p:cNvSpPr/>
          <p:nvPr/>
        </p:nvSpPr>
        <p:spPr>
          <a:xfrm>
            <a:off x="3010991" y="4446747"/>
            <a:ext cx="2816576" cy="15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자사 홍보</a:t>
            </a:r>
            <a:r>
              <a:rPr lang="en-US" altLang="ko-KR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, </a:t>
            </a:r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스마트 팩토리</a:t>
            </a:r>
            <a:r>
              <a:rPr lang="en-US" altLang="ko-KR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, </a:t>
            </a:r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정부과제 대비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0" name="Text 43"/>
          <p:cNvSpPr/>
          <p:nvPr/>
        </p:nvSpPr>
        <p:spPr>
          <a:xfrm>
            <a:off x="2990275" y="4672586"/>
            <a:ext cx="2484263" cy="173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생산이력</a:t>
            </a:r>
            <a:r>
              <a:rPr lang="en-US" altLang="ko-KR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, </a:t>
            </a:r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작업지시</a:t>
            </a:r>
            <a:r>
              <a:rPr lang="en-US" altLang="ko-KR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/</a:t>
            </a:r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실적</a:t>
            </a:r>
            <a:r>
              <a:rPr lang="en-US" altLang="ko-KR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, </a:t>
            </a:r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바코드 연동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0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7" y="4455814"/>
            <a:ext cx="146304" cy="146304"/>
          </a:xfrm>
          <a:prstGeom prst="rect">
            <a:avLst/>
          </a:prstGeom>
        </p:spPr>
      </p:pic>
      <p:pic>
        <p:nvPicPr>
          <p:cNvPr id="10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63" y="4700187"/>
            <a:ext cx="146304" cy="146304"/>
          </a:xfrm>
          <a:prstGeom prst="rect">
            <a:avLst/>
          </a:prstGeom>
        </p:spPr>
      </p:pic>
      <p:pic>
        <p:nvPicPr>
          <p:cNvPr id="10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63" y="4933522"/>
            <a:ext cx="146304" cy="146304"/>
          </a:xfrm>
          <a:prstGeom prst="rect">
            <a:avLst/>
          </a:prstGeom>
        </p:spPr>
      </p:pic>
      <p:pic>
        <p:nvPicPr>
          <p:cNvPr id="10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0571" y="2316584"/>
            <a:ext cx="146304" cy="146304"/>
          </a:xfrm>
          <a:prstGeom prst="rect">
            <a:avLst/>
          </a:prstGeom>
        </p:spPr>
      </p:pic>
      <p:sp>
        <p:nvSpPr>
          <p:cNvPr id="107" name="Text 41"/>
          <p:cNvSpPr/>
          <p:nvPr/>
        </p:nvSpPr>
        <p:spPr>
          <a:xfrm>
            <a:off x="8303750" y="2090523"/>
            <a:ext cx="1737574" cy="173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품질</a:t>
            </a:r>
            <a:r>
              <a:rPr lang="en-US" altLang="ko-KR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/</a:t>
            </a:r>
            <a:r>
              <a:rPr lang="ko-KR" alt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설비관리 전용 모듈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0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97" y="3369620"/>
            <a:ext cx="146304" cy="146304"/>
          </a:xfrm>
          <a:prstGeom prst="rect">
            <a:avLst/>
          </a:prstGeom>
        </p:spPr>
      </p:pic>
      <p:sp>
        <p:nvSpPr>
          <p:cNvPr id="109" name="Text 53"/>
          <p:cNvSpPr/>
          <p:nvPr/>
        </p:nvSpPr>
        <p:spPr>
          <a:xfrm>
            <a:off x="8697073" y="1694344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latinLnBrk="0"/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0/0/2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0" name="Text 60"/>
          <p:cNvSpPr/>
          <p:nvPr/>
        </p:nvSpPr>
        <p:spPr>
          <a:xfrm>
            <a:off x="6109404" y="275372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i="1" dirty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+ 추가 업무 예비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1" name="Text 60"/>
          <p:cNvSpPr/>
          <p:nvPr/>
        </p:nvSpPr>
        <p:spPr>
          <a:xfrm>
            <a:off x="1204347" y="5406817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i="1" dirty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+ 추가 업무 예비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1135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1540" y="715152"/>
            <a:ext cx="67969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    8. MES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시스템</a:t>
            </a:r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구축 계획</a:t>
            </a:r>
            <a:endParaRPr lang="en-US" altLang="ko-KR" dirty="0" smtClean="0"/>
          </a:p>
        </p:txBody>
      </p:sp>
      <p:sp>
        <p:nvSpPr>
          <p:cNvPr id="3" name="Shape 5"/>
          <p:cNvSpPr/>
          <p:nvPr/>
        </p:nvSpPr>
        <p:spPr>
          <a:xfrm>
            <a:off x="1562793" y="1546167"/>
            <a:ext cx="8321040" cy="5486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" name="Text 6"/>
          <p:cNvSpPr/>
          <p:nvPr/>
        </p:nvSpPr>
        <p:spPr>
          <a:xfrm>
            <a:off x="1745673" y="1546167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MES (제조실행시스템) + QMS (품질관리) + FMS (설비관리) 통합 플랫폼</a:t>
            </a:r>
            <a:endParaRPr lang="en-US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" name="Shape 7"/>
          <p:cNvSpPr/>
          <p:nvPr/>
        </p:nvSpPr>
        <p:spPr>
          <a:xfrm>
            <a:off x="1562793" y="2369127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8"/>
          <p:cNvSpPr/>
          <p:nvPr/>
        </p:nvSpPr>
        <p:spPr>
          <a:xfrm>
            <a:off x="1562793" y="2369127"/>
            <a:ext cx="265176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9"/>
          <p:cNvSpPr/>
          <p:nvPr/>
        </p:nvSpPr>
        <p:spPr>
          <a:xfrm>
            <a:off x="1562793" y="236912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MES (생산관리)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" name="Text 10"/>
          <p:cNvSpPr/>
          <p:nvPr/>
        </p:nvSpPr>
        <p:spPr>
          <a:xfrm>
            <a:off x="1699953" y="2917767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생산 이력 </a:t>
            </a:r>
            <a:r>
              <a:rPr lang="en-US" sz="1400" dirty="0" smtClean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관리</a:t>
            </a:r>
          </a:p>
          <a:p>
            <a:pPr latinLnBrk="0">
              <a:buSzPct val="100000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</a:t>
            </a:r>
            <a:r>
              <a:rPr lang="en-US" sz="1400" dirty="0" smtClean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    (</a:t>
            </a: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작업지시→실적)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바코드/QR 기반 공정 추적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재단 Cutting List 연동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실시간 생산 현황 대시보드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ERP 인터페이스 연동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" name="Shape 11"/>
          <p:cNvSpPr/>
          <p:nvPr/>
        </p:nvSpPr>
        <p:spPr>
          <a:xfrm>
            <a:off x="4397433" y="2369127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12"/>
          <p:cNvSpPr/>
          <p:nvPr/>
        </p:nvSpPr>
        <p:spPr>
          <a:xfrm>
            <a:off x="4397433" y="2369127"/>
            <a:ext cx="26517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3"/>
          <p:cNvSpPr/>
          <p:nvPr/>
        </p:nvSpPr>
        <p:spPr>
          <a:xfrm>
            <a:off x="4397433" y="236912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QMS (품질관리)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Text 14"/>
          <p:cNvSpPr/>
          <p:nvPr/>
        </p:nvSpPr>
        <p:spPr>
          <a:xfrm>
            <a:off x="4534593" y="2917767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기반 자동 검사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불량 유형별 분류/이력 관리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한도견본 기반 판정 기준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검사 데이터 통계 분석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공정별 불량률 추적 리포트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Shape 15"/>
          <p:cNvSpPr/>
          <p:nvPr/>
        </p:nvSpPr>
        <p:spPr>
          <a:xfrm>
            <a:off x="7232073" y="2369127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6"/>
          <p:cNvSpPr/>
          <p:nvPr/>
        </p:nvSpPr>
        <p:spPr>
          <a:xfrm>
            <a:off x="7232073" y="2369127"/>
            <a:ext cx="26517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7"/>
          <p:cNvSpPr/>
          <p:nvPr/>
        </p:nvSpPr>
        <p:spPr>
          <a:xfrm>
            <a:off x="7232073" y="2369127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FMS (설비관리)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Text 18"/>
          <p:cNvSpPr/>
          <p:nvPr/>
        </p:nvSpPr>
        <p:spPr>
          <a:xfrm>
            <a:off x="7369233" y="2917767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설비 가동/비가동 실시간 모니터링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예지 보전 알고리즘 (AI 기반)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소모품/부품 교체 주기 관리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설비 OEE 분석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 latinLnBrk="0">
              <a:buSzPct val="100000"/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고장 이력 및 대응 기록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Shape 19"/>
          <p:cNvSpPr/>
          <p:nvPr/>
        </p:nvSpPr>
        <p:spPr>
          <a:xfrm flipV="1">
            <a:off x="1562793" y="5112328"/>
            <a:ext cx="2651760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9"/>
          <p:cNvSpPr/>
          <p:nvPr/>
        </p:nvSpPr>
        <p:spPr>
          <a:xfrm flipV="1">
            <a:off x="4397433" y="5112327"/>
            <a:ext cx="2651760" cy="4571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9"/>
          <p:cNvSpPr/>
          <p:nvPr/>
        </p:nvSpPr>
        <p:spPr>
          <a:xfrm flipV="1">
            <a:off x="7232073" y="5108170"/>
            <a:ext cx="2651760" cy="45719"/>
          </a:xfrm>
          <a:prstGeom prst="rect">
            <a:avLst/>
          </a:prstGeom>
          <a:solidFill>
            <a:srgbClr val="E2E8F0"/>
          </a:solidFill>
          <a:ln/>
        </p:spPr>
      </p:sp>
    </p:spTree>
    <p:extLst>
      <p:ext uri="{BB962C8B-B14F-4D97-AF65-F5344CB8AC3E}">
        <p14:creationId xmlns:p14="http://schemas.microsoft.com/office/powerpoint/2010/main" val="82855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91540" y="715152"/>
            <a:ext cx="5666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    9. Vision AI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품질 검사 시스템</a:t>
            </a:r>
            <a:endParaRPr lang="en-US" altLang="ko-KR" dirty="0" smtClean="0"/>
          </a:p>
        </p:txBody>
      </p:sp>
      <p:sp>
        <p:nvSpPr>
          <p:cNvPr id="3" name="Shape 5"/>
          <p:cNvSpPr/>
          <p:nvPr/>
        </p:nvSpPr>
        <p:spPr>
          <a:xfrm>
            <a:off x="1521229" y="1620981"/>
            <a:ext cx="48463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6"/>
          <p:cNvSpPr/>
          <p:nvPr/>
        </p:nvSpPr>
        <p:spPr>
          <a:xfrm>
            <a:off x="1521229" y="1620981"/>
            <a:ext cx="48463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7"/>
          <p:cNvSpPr/>
          <p:nvPr/>
        </p:nvSpPr>
        <p:spPr>
          <a:xfrm>
            <a:off x="1704109" y="1620981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20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검사 시스템 구성</a:t>
            </a:r>
            <a:endParaRPr lang="en-US" sz="2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" name="Text 8"/>
          <p:cNvSpPr/>
          <p:nvPr/>
        </p:nvSpPr>
        <p:spPr>
          <a:xfrm>
            <a:off x="1704109" y="221534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카메라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Text 9"/>
          <p:cNvSpPr/>
          <p:nvPr/>
        </p:nvSpPr>
        <p:spPr>
          <a:xfrm>
            <a:off x="2664229" y="2215341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Basler acA5472-5gc (20MP)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Area Scan 고해상도 산업용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" name="Shape 10"/>
          <p:cNvSpPr/>
          <p:nvPr/>
        </p:nvSpPr>
        <p:spPr>
          <a:xfrm>
            <a:off x="1704109" y="2718261"/>
            <a:ext cx="4480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11"/>
          <p:cNvSpPr/>
          <p:nvPr/>
        </p:nvSpPr>
        <p:spPr>
          <a:xfrm>
            <a:off x="1704109" y="276398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컴퓨팅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Text 12"/>
          <p:cNvSpPr/>
          <p:nvPr/>
        </p:nvSpPr>
        <p:spPr>
          <a:xfrm>
            <a:off x="2664229" y="2763981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NVIDIA Jetson Orin NX 16GB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Edge AI 실시간 추론 처리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Shape 13"/>
          <p:cNvSpPr/>
          <p:nvPr/>
        </p:nvSpPr>
        <p:spPr>
          <a:xfrm>
            <a:off x="1704109" y="3266901"/>
            <a:ext cx="4480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4"/>
          <p:cNvSpPr/>
          <p:nvPr/>
        </p:nvSpPr>
        <p:spPr>
          <a:xfrm>
            <a:off x="1704109" y="331262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아키텍처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Text 15"/>
          <p:cNvSpPr/>
          <p:nvPr/>
        </p:nvSpPr>
        <p:spPr>
          <a:xfrm>
            <a:off x="2664229" y="3312621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2단계 하이브리드 구조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① TT 아웃피드: 고속 이상 탐지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② 엣지밴더 인피드: 정밀 검사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Shape 16"/>
          <p:cNvSpPr/>
          <p:nvPr/>
        </p:nvSpPr>
        <p:spPr>
          <a:xfrm>
            <a:off x="1704109" y="3815541"/>
            <a:ext cx="4480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7"/>
          <p:cNvSpPr/>
          <p:nvPr/>
        </p:nvSpPr>
        <p:spPr>
          <a:xfrm>
            <a:off x="1704109" y="386126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AI 모델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Text 18"/>
          <p:cNvSpPr/>
          <p:nvPr/>
        </p:nvSpPr>
        <p:spPr>
          <a:xfrm>
            <a:off x="2664229" y="3861261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YOLO/ResNet/EfficientNet 기반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mAP@0.5 ≥ 0.90 목표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Shape 19"/>
          <p:cNvSpPr/>
          <p:nvPr/>
        </p:nvSpPr>
        <p:spPr>
          <a:xfrm>
            <a:off x="1704109" y="4364181"/>
            <a:ext cx="4480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20"/>
          <p:cNvSpPr/>
          <p:nvPr/>
        </p:nvSpPr>
        <p:spPr>
          <a:xfrm>
            <a:off x="1704109" y="440990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검사 항목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" name="Text 21"/>
          <p:cNvSpPr/>
          <p:nvPr/>
        </p:nvSpPr>
        <p:spPr>
          <a:xfrm>
            <a:off x="2664229" y="4409901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칩핑/뜯김, 표면 스크래치, 치수 오차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직각도 불량, 색상 이상, 마감 불량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Shape 22"/>
          <p:cNvSpPr/>
          <p:nvPr/>
        </p:nvSpPr>
        <p:spPr>
          <a:xfrm>
            <a:off x="1704109" y="4912821"/>
            <a:ext cx="44805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3"/>
          <p:cNvSpPr/>
          <p:nvPr/>
        </p:nvSpPr>
        <p:spPr>
          <a:xfrm>
            <a:off x="1704109" y="4958541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판정 속도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3" name="Text 24"/>
          <p:cNvSpPr/>
          <p:nvPr/>
        </p:nvSpPr>
        <p:spPr>
          <a:xfrm>
            <a:off x="2664229" y="4958541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0.5초 이내 실시간 판정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0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오검출률 ≤ 3~5% 목표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Shape 25"/>
          <p:cNvSpPr/>
          <p:nvPr/>
        </p:nvSpPr>
        <p:spPr>
          <a:xfrm>
            <a:off x="6641869" y="1620981"/>
            <a:ext cx="310896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6"/>
          <p:cNvSpPr/>
          <p:nvPr/>
        </p:nvSpPr>
        <p:spPr>
          <a:xfrm>
            <a:off x="6641869" y="1620981"/>
            <a:ext cx="31089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7"/>
          <p:cNvSpPr/>
          <p:nvPr/>
        </p:nvSpPr>
        <p:spPr>
          <a:xfrm>
            <a:off x="6824749" y="1620981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ko-KR" altLang="en-US" sz="2000" b="1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가구</a:t>
            </a:r>
            <a:r>
              <a:rPr lang="en-US" sz="2000" b="1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협동조합 </a:t>
            </a:r>
            <a:r>
              <a:rPr lang="en-US" sz="20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공동사업</a:t>
            </a:r>
            <a:endParaRPr lang="en-US" sz="2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7" name="Text 28"/>
          <p:cNvSpPr/>
          <p:nvPr/>
        </p:nvSpPr>
        <p:spPr>
          <a:xfrm>
            <a:off x="6916187" y="2265219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한국주택가구협동조합 주관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b="1" dirty="0" smtClean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   혁신형 </a:t>
            </a:r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공동사업 (1.25억원)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㈜형경산업 역할: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</a:t>
            </a:r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 · </a:t>
            </a:r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시범현장 (참여기업)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</a:t>
            </a:r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 · </a:t>
            </a:r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자동화 설비 구축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</a:t>
            </a:r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 · </a:t>
            </a:r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통신 프로토콜 개발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</a:t>
            </a:r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 · </a:t>
            </a:r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이미지 데이터 수집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</a:t>
            </a:r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 · </a:t>
            </a:r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한도견본 제작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사업 기간: </a:t>
            </a:r>
            <a:r>
              <a:rPr lang="en-US" sz="1200" b="1" dirty="0" smtClean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6~8</a:t>
            </a:r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개월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 smtClean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   (</a:t>
            </a: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2026.04 ~ 2026.11)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중장기 로드맵: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</a:t>
            </a:r>
            <a:r>
              <a:rPr lang="en-US" sz="12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 AI </a:t>
            </a:r>
            <a:r>
              <a:rPr lang="en-US" sz="12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모델 개발 → 성과 검증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b="1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</a:t>
            </a:r>
            <a:r>
              <a:rPr lang="en-US" sz="1200" b="1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          → </a:t>
            </a:r>
            <a:r>
              <a:rPr lang="en-US" sz="1200" b="1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조합원사 확산 → AI 확대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561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17159" y="699005"/>
            <a:ext cx="4916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  10. 3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개년 단계별 로드맵</a:t>
            </a:r>
            <a:endParaRPr lang="en-US" altLang="ko-KR" dirty="0" smtClean="0">
              <a:solidFill>
                <a:srgbClr val="00206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1517159" y="1654233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6"/>
          <p:cNvSpPr/>
          <p:nvPr/>
        </p:nvSpPr>
        <p:spPr>
          <a:xfrm>
            <a:off x="1517159" y="1654233"/>
            <a:ext cx="274320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7"/>
          <p:cNvSpPr/>
          <p:nvPr/>
        </p:nvSpPr>
        <p:spPr>
          <a:xfrm>
            <a:off x="1517159" y="165423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20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 Black" pitchFamily="34" charset="-120"/>
              </a:rPr>
              <a:t>1차년도</a:t>
            </a:r>
            <a:endParaRPr lang="en-US" sz="2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Text 8"/>
          <p:cNvSpPr/>
          <p:nvPr/>
        </p:nvSpPr>
        <p:spPr>
          <a:xfrm>
            <a:off x="1517159" y="19784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000" dirty="0" smtClean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(2026.06 </a:t>
            </a:r>
            <a:r>
              <a:rPr lang="en-US" sz="1000" dirty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~ </a:t>
            </a:r>
            <a:r>
              <a:rPr lang="en-US" sz="1000" dirty="0" smtClean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2027.05)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Text 9"/>
          <p:cNvSpPr/>
          <p:nvPr/>
        </p:nvSpPr>
        <p:spPr>
          <a:xfrm>
            <a:off x="1517159" y="21795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4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기반 구축 및 MES 도입</a:t>
            </a:r>
            <a:endParaRPr lang="en-US" sz="1400" dirty="0">
              <a:solidFill>
                <a:srgbClr val="FFF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1654319" y="2614353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주요 설비 OPC DA/UA 인터페이스 연동 완료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MQTT 기반 IoT 서버 및 실시간 대시보드 안정화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MES 기초 모듈 구축 및 현장 적용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바코드 기반 재단→접착 공정 추적 시스템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시범현장 적용 (협동조합 공동사업)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정부 스마트팩토리 과제 대응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260359" y="3208713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dirty="0">
                <a:solidFill>
                  <a:srgbClr val="0891B2"/>
                </a:solidFill>
                <a:latin typeface="Calibri" panose="020F0502020204030204"/>
              </a:rPr>
              <a:t>▶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4443239" y="1654233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13"/>
          <p:cNvSpPr/>
          <p:nvPr/>
        </p:nvSpPr>
        <p:spPr>
          <a:xfrm>
            <a:off x="4443239" y="1654233"/>
            <a:ext cx="274320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14"/>
          <p:cNvSpPr/>
          <p:nvPr/>
        </p:nvSpPr>
        <p:spPr>
          <a:xfrm>
            <a:off x="4443239" y="165423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20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 Black" pitchFamily="34" charset="-120"/>
              </a:rPr>
              <a:t>2차년도</a:t>
            </a:r>
            <a:endParaRPr lang="en-US" sz="2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4443239" y="19784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000" dirty="0" smtClean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(2027.06 </a:t>
            </a:r>
            <a:r>
              <a:rPr lang="en-US" sz="1000" dirty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~ </a:t>
            </a:r>
            <a:r>
              <a:rPr lang="en-US" sz="1000" dirty="0" smtClean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2028.05)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4443239" y="21795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4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시스템 안정화 및 데이터 통합</a:t>
            </a:r>
            <a:endParaRPr lang="en-US" sz="1400" dirty="0">
              <a:solidFill>
                <a:srgbClr val="FFF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4580399" y="2614353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QMS(품질) / FMS(설비) 전용 모듈 개발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레거시 ERP 인터페이스 최적화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Edge AI 품질관리 시스템 단계적 현장 적용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AI 모델 고도화 (데이터 추가 학습/튜닝)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MES-ERP 전사 데이터 동기화 완료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설비 예지 보전 데이터 축적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7186439" y="3208713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600" dirty="0">
                <a:solidFill>
                  <a:srgbClr val="0891B2"/>
                </a:solidFill>
                <a:latin typeface="Calibri" panose="020F0502020204030204"/>
              </a:rPr>
              <a:t>▶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19"/>
          <p:cNvSpPr/>
          <p:nvPr/>
        </p:nvSpPr>
        <p:spPr>
          <a:xfrm>
            <a:off x="7369319" y="1654233"/>
            <a:ext cx="27432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20"/>
          <p:cNvSpPr/>
          <p:nvPr/>
        </p:nvSpPr>
        <p:spPr>
          <a:xfrm>
            <a:off x="7369319" y="1654233"/>
            <a:ext cx="274320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21"/>
          <p:cNvSpPr/>
          <p:nvPr/>
        </p:nvSpPr>
        <p:spPr>
          <a:xfrm>
            <a:off x="7369319" y="1654233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20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 Black" pitchFamily="34" charset="-120"/>
              </a:rPr>
              <a:t>3차년도</a:t>
            </a:r>
            <a:endParaRPr lang="en-US" sz="2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22"/>
          <p:cNvSpPr/>
          <p:nvPr/>
        </p:nvSpPr>
        <p:spPr>
          <a:xfrm>
            <a:off x="7369319" y="19784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000" dirty="0" smtClean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(2028.06 </a:t>
            </a:r>
            <a:r>
              <a:rPr lang="en-US" sz="1000" dirty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~ </a:t>
            </a:r>
            <a:r>
              <a:rPr lang="en-US" sz="1000" dirty="0" smtClean="0">
                <a:solidFill>
                  <a:srgbClr val="E2E8F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2029.05)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23"/>
          <p:cNvSpPr/>
          <p:nvPr/>
        </p:nvSpPr>
        <p:spPr>
          <a:xfrm>
            <a:off x="7369319" y="21795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0"/>
            <a:r>
              <a:rPr lang="en-US" sz="14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AI 기반 지능형 제조 완성</a:t>
            </a:r>
            <a:endParaRPr lang="en-US" sz="1400" dirty="0">
              <a:solidFill>
                <a:srgbClr val="FFF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7506479" y="2614353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Edge AI 품질관리 시스템 최종 최적화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빅데이터 기반 예지 보전 알고리즘 구현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품질 예측 및 공정 최적화 AI 적용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전 공정 AI 적용 확대 (엣지, 가공, 포장)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AX(AI 전환) 플랫폼 완성 및 전사 내재화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spcAft>
                <a:spcPts val="600"/>
              </a:spcAft>
              <a:buSzPct val="100000"/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지능형 스마트 팩토리 표준 모델 완성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729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17253" y="695351"/>
            <a:ext cx="8923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11.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핵심 성과 목표</a:t>
            </a:r>
            <a:endParaRPr lang="en-US" altLang="ko-KR" sz="2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321914"/>
              </p:ext>
            </p:extLst>
          </p:nvPr>
        </p:nvGraphicFramePr>
        <p:xfrm>
          <a:off x="1803347" y="1499008"/>
          <a:ext cx="8743940" cy="4359780"/>
        </p:xfrm>
        <a:graphic>
          <a:graphicData uri="http://schemas.openxmlformats.org/drawingml/2006/table">
            <a:tbl>
              <a:tblPr/>
              <a:tblGrid>
                <a:gridCol w="1499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5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99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39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1396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평가항목</a:t>
                      </a:r>
                      <a:endParaRPr lang="en-US" sz="16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성능 지표</a:t>
                      </a:r>
                      <a:endParaRPr lang="en-US" sz="16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단위</a:t>
                      </a:r>
                      <a:endParaRPr lang="en-US" sz="16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달성 목표</a:t>
                      </a:r>
                      <a:endParaRPr lang="en-US" sz="16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국내외 최고</a:t>
                      </a:r>
                      <a:endParaRPr lang="en-US" sz="16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평가 방법</a:t>
                      </a:r>
                      <a:endParaRPr lang="en-US" sz="16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798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AI 비전 모델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결함 판별 정확도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≥ 95%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98%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수동 검사 대비 판별율 비교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798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결함 판독 속도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실시간 처리 속도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sec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≤ 0.5s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0.3s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Edge AI 처리 로그 분석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798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결함 탐지 성능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mAP@0.5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-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≥ 0.90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0.95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모델 성능 평가 리포트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798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오검출률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정상→NG 오판율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≤ 3~5%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1~2%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병행 운영 비교 검증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798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장비 데이터 연동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서버 연동률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≥ 90%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95%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데이터 수신 로그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798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MES 시스템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구축 및 적용률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≥ 70%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99.9%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기능 검증 및 현장 테스트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798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시스템 가동률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AI 시스템 안정성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≥ 95%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99%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가동률 모니터링 로그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798"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치수 추정 정밀도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평균 오차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mm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91B2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≤ ±1.0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±0.5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Arial" pitchFamily="34" charset="-120"/>
                        </a:rPr>
                        <a:t>캘리브레이션 검증</a:t>
                      </a:r>
                      <a:endParaRPr lang="en-US" sz="1400" dirty="0"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19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17253" y="695351"/>
            <a:ext cx="8923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12.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정부 지원 사업 연계</a:t>
            </a:r>
            <a:endParaRPr lang="en-US" altLang="ko-KR" sz="2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sp>
        <p:nvSpPr>
          <p:cNvPr id="6" name="Shape 5"/>
          <p:cNvSpPr/>
          <p:nvPr/>
        </p:nvSpPr>
        <p:spPr>
          <a:xfrm>
            <a:off x="1695796" y="1704109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6"/>
          <p:cNvSpPr/>
          <p:nvPr/>
        </p:nvSpPr>
        <p:spPr>
          <a:xfrm>
            <a:off x="1695796" y="1704109"/>
            <a:ext cx="3931920" cy="50292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676" y="1777261"/>
            <a:ext cx="320040" cy="320040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2290156" y="1704109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고경력 연구인력 채용지원사업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78676" y="2344189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지원기관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30236" y="2344189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중소벤처기업부 (SMTECH)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78676" y="2645941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사업기간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30236" y="2645941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3년 (2026.06 ~ 2029.05)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78676" y="2947693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 smtClean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지원</a:t>
            </a:r>
            <a:r>
              <a:rPr lang="ko-KR" altLang="en-US" sz="1200" b="1" dirty="0" smtClean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금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930236" y="2947693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ko-KR" altLang="en-US" sz="1200" dirty="0" smtClean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급여</a:t>
            </a:r>
            <a:r>
              <a:rPr lang="en-US" sz="1200" dirty="0" smtClean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(정부 50%+기업 50%)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78676" y="3249445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연구책임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30236" y="3249445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이주철 (연구실장, 석사)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878676" y="3852949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1차년도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930236" y="3852949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IoT 연동 + MES 기초 구축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78676" y="4154701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2차년도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930236" y="4154701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QMS/FMS 확장 + ERP 연동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878676" y="4456453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3차년도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930236" y="4456453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Edge AI 품질관리 + AX 완성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878676" y="5059957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핵심 목표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30236" y="5059957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자립형 스마트 팩토리 모델 완성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93476" y="1704109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93476" y="1704109"/>
            <a:ext cx="3931920" cy="5029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356" y="1777261"/>
            <a:ext cx="320040" cy="3200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587836" y="1704109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혁신형 공동사업 (주택가구협동조합)</a:t>
            </a:r>
            <a:endParaRPr lang="en-US" sz="16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176356" y="2344189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사업명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227916" y="2344189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기반 재단공정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통합 품질관리시스템 개발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176356" y="2837965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주관기관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227916" y="2837965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한국주택가구협동조합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176356" y="3176293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참여기업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227916" y="3176293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㈜형경산업 (시범현장)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176356" y="3514621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사업비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227916" y="3514621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1억 2,500만원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176356" y="3852949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사업기간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227916" y="3852949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 smtClean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6~8</a:t>
            </a: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개월 (</a:t>
            </a:r>
            <a:r>
              <a:rPr lang="en-US" sz="1200" dirty="0" smtClean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2026.04/05 </a:t>
            </a: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~ 2026.11)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176356" y="4282717"/>
            <a:ext cx="10058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HK 역할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227916" y="4264611"/>
            <a:ext cx="2468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자동화 설비 구축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통신 프로토콜 개발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이미지 데이터 수집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시범현장 적용 지원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176356" y="5178829"/>
            <a:ext cx="10058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확산 계획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7227916" y="5160723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3차년도 10개 조합원사 도입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단체표준 제정 추진</a:t>
            </a:r>
            <a:endParaRPr lang="en-US" sz="12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661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17253" y="695351"/>
            <a:ext cx="8923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12.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정부 지원 사업 연계 </a:t>
            </a:r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(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추가 과제</a:t>
            </a:r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)</a:t>
            </a:r>
          </a:p>
        </p:txBody>
      </p:sp>
      <p:sp>
        <p:nvSpPr>
          <p:cNvPr id="44" name="Text 4"/>
          <p:cNvSpPr/>
          <p:nvPr/>
        </p:nvSpPr>
        <p:spPr>
          <a:xfrm>
            <a:off x="9526320" y="552630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15 / 18</a:t>
            </a:r>
            <a:endParaRPr lang="en-US" sz="900" dirty="0"/>
          </a:p>
        </p:txBody>
      </p:sp>
      <p:sp>
        <p:nvSpPr>
          <p:cNvPr id="45" name="Shape 5"/>
          <p:cNvSpPr/>
          <p:nvPr/>
        </p:nvSpPr>
        <p:spPr>
          <a:xfrm>
            <a:off x="1936800" y="1777261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6"/>
          <p:cNvSpPr/>
          <p:nvPr/>
        </p:nvSpPr>
        <p:spPr>
          <a:xfrm>
            <a:off x="1936800" y="1777261"/>
            <a:ext cx="3931920" cy="5029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4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680" y="1850413"/>
            <a:ext cx="320040" cy="320040"/>
          </a:xfrm>
          <a:prstGeom prst="rect">
            <a:avLst/>
          </a:prstGeom>
        </p:spPr>
      </p:pic>
      <p:sp>
        <p:nvSpPr>
          <p:cNvPr id="48" name="Text 7"/>
          <p:cNvSpPr/>
          <p:nvPr/>
        </p:nvSpPr>
        <p:spPr>
          <a:xfrm>
            <a:off x="2531160" y="1777261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스마트공장 수준확인 사업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8"/>
          <p:cNvSpPr/>
          <p:nvPr/>
        </p:nvSpPr>
        <p:spPr>
          <a:xfrm>
            <a:off x="2119680" y="2417341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공고번호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9"/>
          <p:cNvSpPr/>
          <p:nvPr/>
        </p:nvSpPr>
        <p:spPr>
          <a:xfrm>
            <a:off x="3079800" y="2417341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중소벤처기업부 공고 제2026-45호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2119680" y="2719093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사업목적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3079800" y="2719093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스마트화 수준진단 및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수준확인서 발급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3" name="Text 12"/>
          <p:cNvSpPr/>
          <p:nvPr/>
        </p:nvSpPr>
        <p:spPr>
          <a:xfrm>
            <a:off x="2119680" y="3167149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지원내용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3079800" y="3167149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스마트화 수준확인 + 고도화 전략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심사보고서 제공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2119680" y="3615205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지원금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6" name="Text 15"/>
          <p:cNvSpPr/>
          <p:nvPr/>
        </p:nvSpPr>
        <p:spPr>
          <a:xfrm>
            <a:off x="3079800" y="3615205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전액 지원 (기업당 최대 100만원)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7" name="Text 16"/>
          <p:cNvSpPr/>
          <p:nvPr/>
        </p:nvSpPr>
        <p:spPr>
          <a:xfrm>
            <a:off x="2119680" y="3916957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접수기간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3079800" y="3916957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2026.01.30 ~ 예산 소진시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9" name="Text 18"/>
          <p:cNvSpPr/>
          <p:nvPr/>
        </p:nvSpPr>
        <p:spPr>
          <a:xfrm>
            <a:off x="2119680" y="422776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신청방법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0" name="Text 19"/>
          <p:cNvSpPr/>
          <p:nvPr/>
        </p:nvSpPr>
        <p:spPr>
          <a:xfrm>
            <a:off x="3079800" y="4218709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smart-factory.kr 온라인 신청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1" name="Text 20"/>
          <p:cNvSpPr/>
          <p:nvPr/>
        </p:nvSpPr>
        <p:spPr>
          <a:xfrm>
            <a:off x="2119680" y="4593613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HK 적용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2" name="Text 21"/>
          <p:cNvSpPr/>
          <p:nvPr/>
        </p:nvSpPr>
        <p:spPr>
          <a:xfrm>
            <a:off x="3079800" y="4593613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자체 역량 스마트공장 구축기업으로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수준확인 신청 예정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3" name="Text 22"/>
          <p:cNvSpPr/>
          <p:nvPr/>
        </p:nvSpPr>
        <p:spPr>
          <a:xfrm>
            <a:off x="2119680" y="5041669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기대효과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4" name="Text 23"/>
          <p:cNvSpPr/>
          <p:nvPr/>
        </p:nvSpPr>
        <p:spPr>
          <a:xfrm>
            <a:off x="3079800" y="5041669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공식 수준확인서 발급 → 정부사업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가점 활용 및 고도화 방향 수립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5" name="Shape 24"/>
          <p:cNvSpPr/>
          <p:nvPr/>
        </p:nvSpPr>
        <p:spPr>
          <a:xfrm>
            <a:off x="6234480" y="1777261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Shape 25"/>
          <p:cNvSpPr/>
          <p:nvPr/>
        </p:nvSpPr>
        <p:spPr>
          <a:xfrm>
            <a:off x="6234480" y="1777261"/>
            <a:ext cx="3931920" cy="5029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360" y="1850413"/>
            <a:ext cx="320040" cy="320040"/>
          </a:xfrm>
          <a:prstGeom prst="rect">
            <a:avLst/>
          </a:prstGeom>
        </p:spPr>
      </p:pic>
      <p:sp>
        <p:nvSpPr>
          <p:cNvPr id="68" name="Text 26"/>
          <p:cNvSpPr/>
          <p:nvPr/>
        </p:nvSpPr>
        <p:spPr>
          <a:xfrm>
            <a:off x="6828840" y="1777261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경기도형 스마트공장 구축 지원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9" name="Text 27"/>
          <p:cNvSpPr/>
          <p:nvPr/>
        </p:nvSpPr>
        <p:spPr>
          <a:xfrm>
            <a:off x="6417360" y="2417341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공고번호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0" name="Text 28"/>
          <p:cNvSpPr/>
          <p:nvPr/>
        </p:nvSpPr>
        <p:spPr>
          <a:xfrm>
            <a:off x="7377480" y="2417341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경기테크노파크 공고 제2026-20호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1" name="Text 29"/>
          <p:cNvSpPr/>
          <p:nvPr/>
        </p:nvSpPr>
        <p:spPr>
          <a:xfrm>
            <a:off x="6417360" y="2719093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유형1 기초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2" name="Text 30"/>
          <p:cNvSpPr/>
          <p:nvPr/>
        </p:nvSpPr>
        <p:spPr>
          <a:xfrm>
            <a:off x="7377480" y="2719093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최대 5천만원 (도30%+시70%)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총 사업비의 70% 이내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3" name="Text 31"/>
          <p:cNvSpPr/>
          <p:nvPr/>
        </p:nvSpPr>
        <p:spPr>
          <a:xfrm>
            <a:off x="6417360" y="3167149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유형2-2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4" name="Text 32"/>
          <p:cNvSpPr/>
          <p:nvPr/>
        </p:nvSpPr>
        <p:spPr>
          <a:xfrm>
            <a:off x="7377480" y="3167149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제조AI 첫걸음: 최대 1억원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(도100%), 총 사업비의 70%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5" name="Text 33"/>
          <p:cNvSpPr/>
          <p:nvPr/>
        </p:nvSpPr>
        <p:spPr>
          <a:xfrm>
            <a:off x="6417360" y="3615205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김포시 배정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6" name="Text 34"/>
          <p:cNvSpPr/>
          <p:nvPr/>
        </p:nvSpPr>
        <p:spPr>
          <a:xfrm>
            <a:off x="7377480" y="3615205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유형1: 7개사 (김포시 배정분)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7" name="Text 35"/>
          <p:cNvSpPr/>
          <p:nvPr/>
        </p:nvSpPr>
        <p:spPr>
          <a:xfrm>
            <a:off x="6417360" y="3926010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접수마감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8" name="Text 36"/>
          <p:cNvSpPr/>
          <p:nvPr/>
        </p:nvSpPr>
        <p:spPr>
          <a:xfrm>
            <a:off x="7377480" y="3916957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2026.03.20 (18:00까지)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9" name="Text 37"/>
          <p:cNvSpPr/>
          <p:nvPr/>
        </p:nvSpPr>
        <p:spPr>
          <a:xfrm>
            <a:off x="6417360" y="422776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사업기간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0" name="Text 38"/>
          <p:cNvSpPr/>
          <p:nvPr/>
        </p:nvSpPr>
        <p:spPr>
          <a:xfrm>
            <a:off x="7377480" y="4218709"/>
            <a:ext cx="2560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최대 7개월 (협약일~11.15)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1" name="Text 39"/>
          <p:cNvSpPr/>
          <p:nvPr/>
        </p:nvSpPr>
        <p:spPr>
          <a:xfrm>
            <a:off x="6417360" y="4593613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HK 신청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2" name="Text 40"/>
          <p:cNvSpPr/>
          <p:nvPr/>
        </p:nvSpPr>
        <p:spPr>
          <a:xfrm>
            <a:off x="7377480" y="4575507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유형1(기초) 또는 유형2-2(제조AI)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지원 신청 예정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3" name="Text 41"/>
          <p:cNvSpPr/>
          <p:nvPr/>
        </p:nvSpPr>
        <p:spPr>
          <a:xfrm>
            <a:off x="6417360" y="5041669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지원내용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4" name="Text 42"/>
          <p:cNvSpPr/>
          <p:nvPr/>
        </p:nvSpPr>
        <p:spPr>
          <a:xfrm>
            <a:off x="7377480" y="5041669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설비: 자동화장비, 센서, 비전시스템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SW: POP/MES, ERP 연동 솔루션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331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17254" y="695351"/>
            <a:ext cx="6812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13. 1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차년도 </a:t>
            </a:r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Action Plan &amp; WBS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진척도 </a:t>
            </a:r>
            <a:endParaRPr lang="en-US" altLang="ko-KR" sz="2800" b="1" dirty="0" smtClean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  <p:graphicFrame>
        <p:nvGraphicFramePr>
          <p:cNvPr id="85" name="Chart 0"/>
          <p:cNvGraphicFramePr/>
          <p:nvPr>
            <p:extLst>
              <p:ext uri="{D42A27DB-BD31-4B8C-83A1-F6EECF244321}">
                <p14:modId xmlns:p14="http://schemas.microsoft.com/office/powerpoint/2010/main" val="4044735612"/>
              </p:ext>
            </p:extLst>
          </p:nvPr>
        </p:nvGraphicFramePr>
        <p:xfrm>
          <a:off x="1517252" y="1631558"/>
          <a:ext cx="6388151" cy="4503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6" name="Shape 5"/>
          <p:cNvSpPr/>
          <p:nvPr/>
        </p:nvSpPr>
        <p:spPr>
          <a:xfrm>
            <a:off x="8193134" y="1779251"/>
            <a:ext cx="294723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7" name="Shape 6"/>
          <p:cNvSpPr/>
          <p:nvPr/>
        </p:nvSpPr>
        <p:spPr>
          <a:xfrm>
            <a:off x="8193133" y="1779251"/>
            <a:ext cx="2947231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8" name="Text 7"/>
          <p:cNvSpPr/>
          <p:nvPr/>
        </p:nvSpPr>
        <p:spPr>
          <a:xfrm>
            <a:off x="8284574" y="1779251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1단계 (01~04월)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Text 8"/>
          <p:cNvSpPr/>
          <p:nvPr/>
        </p:nvSpPr>
        <p:spPr>
          <a:xfrm>
            <a:off x="10113374" y="1779251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latinLnBrk="0"/>
            <a:r>
              <a:rPr lang="en-US" sz="14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 Black" pitchFamily="34" charset="-120"/>
              </a:rPr>
              <a:t>7</a:t>
            </a:r>
            <a:r>
              <a:rPr lang="en-US" sz="1400" b="1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 Black" pitchFamily="34" charset="-120"/>
              </a:rPr>
              <a:t>2</a:t>
            </a:r>
            <a:r>
              <a:rPr lang="en-US" sz="14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 Black" pitchFamily="34" charset="-120"/>
              </a:rPr>
              <a:t>%</a:t>
            </a:r>
            <a:endParaRPr lang="en-US" sz="1400" b="1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8284574" y="2145011"/>
            <a:ext cx="2697850" cy="1188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1" name="Shape 10"/>
          <p:cNvSpPr/>
          <p:nvPr/>
        </p:nvSpPr>
        <p:spPr>
          <a:xfrm>
            <a:off x="8284378" y="2145011"/>
            <a:ext cx="1706514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2" name="Text 11"/>
          <p:cNvSpPr/>
          <p:nvPr/>
        </p:nvSpPr>
        <p:spPr>
          <a:xfrm>
            <a:off x="8284574" y="2309603"/>
            <a:ext cx="261472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SCM-GA3 OPC DA 연동, ESP32 </a:t>
            </a:r>
            <a:r>
              <a:rPr 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펌웨어</a:t>
            </a:r>
          </a:p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ko-KR" alt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기타 장비 데이터 연동 및 모니터링 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MQTT/TimescaleDB/Grafana 파이프라인,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atinLnBrk="0"/>
            <a:r>
              <a:rPr 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     Docker </a:t>
            </a: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인프라 구축 완료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3" name="Shape 12"/>
          <p:cNvSpPr/>
          <p:nvPr/>
        </p:nvSpPr>
        <p:spPr>
          <a:xfrm>
            <a:off x="8193134" y="3263073"/>
            <a:ext cx="294723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4" name="Shape 13"/>
          <p:cNvSpPr/>
          <p:nvPr/>
        </p:nvSpPr>
        <p:spPr>
          <a:xfrm>
            <a:off x="8193134" y="3263073"/>
            <a:ext cx="294723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5" name="Text 14"/>
          <p:cNvSpPr/>
          <p:nvPr/>
        </p:nvSpPr>
        <p:spPr>
          <a:xfrm>
            <a:off x="8284574" y="3263073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2단계 (05~08월)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10113374" y="3263073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latinLnBrk="0"/>
            <a:r>
              <a:rPr lang="en-US" sz="1400" b="1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 Black" pitchFamily="34" charset="-120"/>
              </a:rPr>
              <a:t>25%</a:t>
            </a:r>
            <a:endParaRPr lang="en-US" sz="1400" b="1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7" name="Shape 16"/>
          <p:cNvSpPr/>
          <p:nvPr/>
        </p:nvSpPr>
        <p:spPr>
          <a:xfrm>
            <a:off x="8284574" y="3628833"/>
            <a:ext cx="2697850" cy="1188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8" name="Shape 17"/>
          <p:cNvSpPr/>
          <p:nvPr/>
        </p:nvSpPr>
        <p:spPr>
          <a:xfrm>
            <a:off x="8288601" y="3632989"/>
            <a:ext cx="710746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9" name="Text 18"/>
          <p:cNvSpPr/>
          <p:nvPr/>
        </p:nvSpPr>
        <p:spPr>
          <a:xfrm>
            <a:off x="8284574" y="3793425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정부 과제 신청 완료 </a:t>
            </a:r>
            <a:r>
              <a:rPr 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(</a:t>
            </a:r>
            <a:r>
              <a:rPr lang="ko-KR" alt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고경력인력</a:t>
            </a:r>
            <a:r>
              <a:rPr 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, </a:t>
            </a: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협동조합)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ERP 연동 및 MES 기초 모듈 </a:t>
            </a:r>
            <a:r>
              <a:rPr 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착수/</a:t>
            </a:r>
            <a:r>
              <a:rPr lang="ko-KR" alt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개발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IoT 데이터 수집 안정화 중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0" name="Shape 19"/>
          <p:cNvSpPr/>
          <p:nvPr/>
        </p:nvSpPr>
        <p:spPr>
          <a:xfrm>
            <a:off x="8193134" y="4738582"/>
            <a:ext cx="294723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1" name="Shape 20"/>
          <p:cNvSpPr/>
          <p:nvPr/>
        </p:nvSpPr>
        <p:spPr>
          <a:xfrm>
            <a:off x="8193134" y="4738582"/>
            <a:ext cx="2947230" cy="3200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2" name="Text 21"/>
          <p:cNvSpPr/>
          <p:nvPr/>
        </p:nvSpPr>
        <p:spPr>
          <a:xfrm>
            <a:off x="8284574" y="473858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atinLnBrk="0"/>
            <a:r>
              <a:rPr lang="en-US" sz="14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3단계 (09~12월)</a:t>
            </a:r>
            <a:endParaRPr lang="en-US" sz="14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3" name="Text 22"/>
          <p:cNvSpPr/>
          <p:nvPr/>
        </p:nvSpPr>
        <p:spPr>
          <a:xfrm>
            <a:off x="10113374" y="473858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latinLnBrk="0"/>
            <a:r>
              <a:rPr lang="en-US" sz="1400" b="1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 Black" pitchFamily="34" charset="-120"/>
              </a:rPr>
              <a:t>5%</a:t>
            </a:r>
            <a:endParaRPr lang="en-US" sz="1400" b="1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4" name="Shape 23"/>
          <p:cNvSpPr/>
          <p:nvPr/>
        </p:nvSpPr>
        <p:spPr>
          <a:xfrm>
            <a:off x="8284574" y="5104342"/>
            <a:ext cx="269785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5" name="Shape 24"/>
          <p:cNvSpPr/>
          <p:nvPr/>
        </p:nvSpPr>
        <p:spPr>
          <a:xfrm>
            <a:off x="8289037" y="5104342"/>
            <a:ext cx="175536" cy="10972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6" name="Text 25"/>
          <p:cNvSpPr/>
          <p:nvPr/>
        </p:nvSpPr>
        <p:spPr>
          <a:xfrm>
            <a:off x="8284574" y="526893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시스템 </a:t>
            </a:r>
            <a:r>
              <a:rPr lang="ko-KR" alt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기초 </a:t>
            </a:r>
            <a:r>
              <a:rPr 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설계 </a:t>
            </a:r>
          </a:p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MES </a:t>
            </a:r>
            <a:r>
              <a:rPr lang="ko-KR" alt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시스템 개발 및 시범 운영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 latinLnBrk="0">
              <a:buFont typeface="Wingdings" panose="05000000000000000000" pitchFamily="2" charset="2"/>
              <a:buChar char="ü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QMS/FMS 모듈 </a:t>
            </a:r>
            <a:r>
              <a:rPr lang="ko-KR" alt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기초</a:t>
            </a:r>
            <a:r>
              <a:rPr lang="en-US" sz="1000" dirty="0" smtClean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 설계</a:t>
            </a:r>
            <a:endParaRPr lang="en-US" sz="1000" dirty="0">
              <a:solidFill>
                <a:prstClr val="black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522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63096" y="702228"/>
            <a:ext cx="3327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       14. </a:t>
            </a:r>
            <a:r>
              <a:rPr lang="ko-KR" altLang="en-US" sz="2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기대효과</a:t>
            </a:r>
            <a:endParaRPr lang="en-US" altLang="ko-KR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Shape 5"/>
          <p:cNvSpPr/>
          <p:nvPr/>
        </p:nvSpPr>
        <p:spPr>
          <a:xfrm>
            <a:off x="1886742" y="1748224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6"/>
          <p:cNvSpPr/>
          <p:nvPr/>
        </p:nvSpPr>
        <p:spPr>
          <a:xfrm>
            <a:off x="1886742" y="1748224"/>
            <a:ext cx="54864" cy="18288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622" y="1885384"/>
            <a:ext cx="274320" cy="274320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2435382" y="1857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생산성 향상 및 원가 절감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Shape 8"/>
          <p:cNvSpPr/>
          <p:nvPr/>
        </p:nvSpPr>
        <p:spPr>
          <a:xfrm>
            <a:off x="2023902" y="2223712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2023902" y="2296864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실시간 가동 데이터 + MES로 공정 가시성 극대화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불량률 저감 → 재작업/폐기 비용 대폭 절감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설비 가동률 극대화로 연간 제조 원가 절감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4748814" y="1748224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11"/>
          <p:cNvSpPr/>
          <p:nvPr/>
        </p:nvSpPr>
        <p:spPr>
          <a:xfrm>
            <a:off x="4748814" y="1748224"/>
            <a:ext cx="54864" cy="18288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694" y="1885384"/>
            <a:ext cx="274320" cy="274320"/>
          </a:xfrm>
          <a:prstGeom prst="rect">
            <a:avLst/>
          </a:prstGeom>
        </p:spPr>
      </p:pic>
      <p:sp>
        <p:nvSpPr>
          <p:cNvPr id="13" name="Text 12"/>
          <p:cNvSpPr/>
          <p:nvPr/>
        </p:nvSpPr>
        <p:spPr>
          <a:xfrm>
            <a:off x="5297454" y="1857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품질 경쟁력 강화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Shape 13"/>
          <p:cNvSpPr/>
          <p:nvPr/>
        </p:nvSpPr>
        <p:spPr>
          <a:xfrm>
            <a:off x="4885974" y="2223712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4"/>
          <p:cNvSpPr/>
          <p:nvPr/>
        </p:nvSpPr>
        <p:spPr>
          <a:xfrm>
            <a:off x="4885974" y="2296864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Vision AI 24시간 일관된 품질 판정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재단 공정 초기 불량 차단 → 후공정 전이 방지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공동주택 하자 발생률 획기적 감소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Shape 15"/>
          <p:cNvSpPr/>
          <p:nvPr/>
        </p:nvSpPr>
        <p:spPr>
          <a:xfrm>
            <a:off x="7610886" y="1748224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6"/>
          <p:cNvSpPr/>
          <p:nvPr/>
        </p:nvSpPr>
        <p:spPr>
          <a:xfrm>
            <a:off x="7610886" y="1748224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3766" y="1885384"/>
            <a:ext cx="274320" cy="274320"/>
          </a:xfrm>
          <a:prstGeom prst="rect">
            <a:avLst/>
          </a:prstGeom>
        </p:spPr>
      </p:pic>
      <p:sp>
        <p:nvSpPr>
          <p:cNvPr id="19" name="Text 17"/>
          <p:cNvSpPr/>
          <p:nvPr/>
        </p:nvSpPr>
        <p:spPr>
          <a:xfrm>
            <a:off x="8159526" y="185795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기술 자산 내재화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48046" y="2223712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48046" y="2296864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25년 숙련 노하우의 체계적 문서화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OPC Agent/펌웨어/서버 풀스택 기술 자립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외부 의존 없는 독자적 DX/AX 플랫폼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886742" y="3714184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86742" y="3714184"/>
            <a:ext cx="54864" cy="182880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9622" y="3851344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435382" y="38239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인력 운용 최적화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023902" y="4189672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23902" y="4262824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단순 반복 검사 인력 → 고부가가치 업무 재배치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표준 Guide 구축으로 신규 인력 조기 적응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인력 변동에도 시스템 운영 연속성 확보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748814" y="3714184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748814" y="3714184"/>
            <a:ext cx="54864" cy="1828800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694" y="3851344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97454" y="38239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협동조합 공동 인프라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4885974" y="4189672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85974" y="4262824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AI 모델/데이터셋 공동 구축 → 도입 비용 절감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표준 패키지로 조합원사 수평 확산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공동구매/유지보수 → 규모의 경제 실현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7610886" y="3714184"/>
            <a:ext cx="26974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610886" y="3714184"/>
            <a:ext cx="54864" cy="1828800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3766" y="3851344"/>
            <a:ext cx="274320" cy="2743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159526" y="38239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미래 성장 기반</a:t>
            </a:r>
            <a:endParaRPr 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7748046" y="4189672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748046" y="4262824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데이터 기반 AX(AI 전환) 핵심 역량 확보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타 공정/타 업종 확장 가능한 표준 모델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47556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Arial" pitchFamily="34" charset="-120"/>
              </a:rPr>
              <a:t>지능형 제조 기업으로의 전략적 도약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927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46487" y="3123446"/>
            <a:ext cx="32047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감사합니다</a:t>
            </a:r>
            <a:r>
              <a:rPr lang="en-US" altLang="ko-KR" sz="4800" b="1" dirty="0" smtClean="0">
                <a:solidFill>
                  <a:srgbClr val="002060"/>
                </a:solidFill>
                <a:latin typeface="Noto Sans KR SemiBold" panose="020B0200000000000000" pitchFamily="50" charset="-127"/>
                <a:ea typeface="Noto Sans KR SemiBold" panose="020B0200000000000000" pitchFamily="50" charset="-127"/>
              </a:rPr>
              <a:t>.</a:t>
            </a:r>
            <a:endParaRPr lang="ko-KR" altLang="en-US" sz="4800" b="1" dirty="0">
              <a:solidFill>
                <a:srgbClr val="002060"/>
              </a:solidFill>
              <a:latin typeface="Noto Sans KR SemiBold" panose="020B0200000000000000" pitchFamily="50" charset="-127"/>
              <a:ea typeface="Noto Sans KR SemiBold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716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줄기">
  <a:themeElements>
    <a:clrScheme name="줄기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줄기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줄기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8114</TotalTime>
  <Words>2282</Words>
  <Application>Microsoft Office PowerPoint</Application>
  <PresentationFormat>와이드스크린</PresentationFormat>
  <Paragraphs>605</Paragraphs>
  <Slides>18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9" baseType="lpstr">
      <vt:lpstr>HY중고딕</vt:lpstr>
      <vt:lpstr>Noto Sans KR Medium</vt:lpstr>
      <vt:lpstr>Noto Sans KR SemiBold</vt:lpstr>
      <vt:lpstr>맑은 고딕</vt:lpstr>
      <vt:lpstr>Arial</vt:lpstr>
      <vt:lpstr>Arial Black</vt:lpstr>
      <vt:lpstr>Calibri</vt:lpstr>
      <vt:lpstr>Century Gothic</vt:lpstr>
      <vt:lpstr>Wingdings</vt:lpstr>
      <vt:lpstr>Wingdings 3</vt:lpstr>
      <vt:lpstr>줄기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JooCheol</dc:creator>
  <cp:lastModifiedBy>EasyFwGuy</cp:lastModifiedBy>
  <cp:revision>435</cp:revision>
  <dcterms:created xsi:type="dcterms:W3CDTF">2025-12-08T07:50:36Z</dcterms:created>
  <dcterms:modified xsi:type="dcterms:W3CDTF">2026-03-10T01:11:06Z</dcterms:modified>
</cp:coreProperties>
</file>